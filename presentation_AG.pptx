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y="5143500" cx="9144000"/>
  <p:notesSz cx="6858000" cy="9144000"/>
  <p:embeddedFontLst>
    <p:embeddedFont>
      <p:font typeface="Nunito"/>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F39375D-C9FD-481D-8582-E38D817CDE3A}">
  <a:tblStyle styleId="{3F39375D-C9FD-481D-8582-E38D817CDE3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Nunito-regular.fntdata"/><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Nunito-italic.fntdata"/><Relationship Id="rId12" Type="http://schemas.openxmlformats.org/officeDocument/2006/relationships/slide" Target="slides/slide6.xml"/><Relationship Id="rId34" Type="http://schemas.openxmlformats.org/officeDocument/2006/relationships/font" Target="fonts/Nunito-bold.fntdata"/><Relationship Id="rId15" Type="http://schemas.openxmlformats.org/officeDocument/2006/relationships/slide" Target="slides/slide9.xml"/><Relationship Id="rId14" Type="http://schemas.openxmlformats.org/officeDocument/2006/relationships/slide" Target="slides/slide8.xml"/><Relationship Id="rId36" Type="http://schemas.openxmlformats.org/officeDocument/2006/relationships/font" Target="fonts/Nunito-bold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6a7309db36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6a7309db36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6aaa33fb4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6aaa33fb4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6aaa33fb4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6aaa33fb4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6aaa33fb42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6aaa33fb42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6a7309db36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6a7309db36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6a7309db36_0_6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6a7309db36_0_6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6aec106aaf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6aec106aaf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6aaa33fb42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6aaa33fb42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6a7309db36_0_6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6a7309db36_0_6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6a7309db36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6a7309db36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6a7309db36_0_6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6a7309db36_0_6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6a7309db36_0_6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6a7309db36_0_6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6a7309db36_0_7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6a7309db36_0_7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6a7309db36_0_6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6a7309db36_0_6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6a7309db36_0_6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6a7309db36_0_6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6ad5664d00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6ad5664d00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6ad5664d00_5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36ad5664d00_5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6ad5664d00_5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6ad5664d00_5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6ad5664d00_5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6ad5664d00_5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6ad5664d00_5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6ad5664d00_5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6ad5664d00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36ad5664d00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69b9f684d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369b9f684d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6a7309db36_0_6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36a7309db36_0_6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6a7309db36_0_6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36a7309db36_0_6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6afe00006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6afe00006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4.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6.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9.png"/><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0.png"/><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18.png"/><Relationship Id="rId6"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3"/>
          <p:cNvSpPr txBox="1"/>
          <p:nvPr>
            <p:ph type="ctrTitle"/>
          </p:nvPr>
        </p:nvSpPr>
        <p:spPr>
          <a:xfrm>
            <a:off x="1858703" y="1441833"/>
            <a:ext cx="5361300" cy="1448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GB"/>
              <a:t>Unconditional Generation in TPPs</a:t>
            </a:r>
            <a:endParaRPr/>
          </a:p>
        </p:txBody>
      </p:sp>
      <p:sp>
        <p:nvSpPr>
          <p:cNvPr id="129" name="Google Shape;129;p13"/>
          <p:cNvSpPr txBox="1"/>
          <p:nvPr>
            <p:ph idx="1" type="subTitle"/>
          </p:nvPr>
        </p:nvSpPr>
        <p:spPr>
          <a:xfrm>
            <a:off x="729625" y="3096700"/>
            <a:ext cx="7688100" cy="1121700"/>
          </a:xfrm>
          <a:prstGeom prst="rect">
            <a:avLst/>
          </a:prstGeom>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GB"/>
              <a:t>Summer Research Internship</a:t>
            </a:r>
            <a:endParaRPr/>
          </a:p>
          <a:p>
            <a:pPr indent="0" lvl="0" marL="0" rtl="0" algn="ctr">
              <a:spcBef>
                <a:spcPts val="0"/>
              </a:spcBef>
              <a:spcAft>
                <a:spcPts val="0"/>
              </a:spcAft>
              <a:buNone/>
            </a:pPr>
            <a:r>
              <a:rPr lang="en-GB"/>
              <a:t>By Aditya Ghosh</a:t>
            </a:r>
            <a:endParaRPr/>
          </a:p>
          <a:p>
            <a:pPr indent="0" lvl="0" marL="0" rtl="0" algn="ctr">
              <a:spcBef>
                <a:spcPts val="0"/>
              </a:spcBef>
              <a:spcAft>
                <a:spcPts val="0"/>
              </a:spcAft>
              <a:buNone/>
            </a:pPr>
            <a:r>
              <a:rPr lang="en-GB"/>
              <a:t>From May 13th to June 26th</a:t>
            </a:r>
            <a:endParaRPr/>
          </a:p>
          <a:p>
            <a:pPr indent="0" lvl="0" marL="0" rtl="0" algn="ctr">
              <a:spcBef>
                <a:spcPts val="0"/>
              </a:spcBef>
              <a:spcAft>
                <a:spcPts val="0"/>
              </a:spcAft>
              <a:buNone/>
            </a:pPr>
            <a:r>
              <a:rPr lang="en-GB"/>
              <a:t>Under the supervision of Professor Niloy Ganguly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Introduction to the Problem</a:t>
            </a:r>
            <a:endParaRPr/>
          </a:p>
        </p:txBody>
      </p:sp>
      <p:sp>
        <p:nvSpPr>
          <p:cNvPr id="135" name="Google Shape;135;p1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1550">
                <a:solidFill>
                  <a:srgbClr val="000000"/>
                </a:solidFill>
                <a:latin typeface="Arial"/>
                <a:ea typeface="Arial"/>
                <a:cs typeface="Arial"/>
                <a:sym typeface="Arial"/>
              </a:rPr>
              <a:t>Problem Domain:</a:t>
            </a:r>
            <a:r>
              <a:rPr lang="en-GB" sz="1550">
                <a:solidFill>
                  <a:srgbClr val="000000"/>
                </a:solidFill>
                <a:latin typeface="Arial"/>
                <a:ea typeface="Arial"/>
                <a:cs typeface="Arial"/>
                <a:sym typeface="Arial"/>
              </a:rPr>
              <a:t> Temporal Point Processes (TPPs)</a:t>
            </a:r>
            <a:endParaRPr sz="1550">
              <a:solidFill>
                <a:srgbClr val="000000"/>
              </a:solidFill>
              <a:latin typeface="Arial"/>
              <a:ea typeface="Arial"/>
              <a:cs typeface="Arial"/>
              <a:sym typeface="Arial"/>
            </a:endParaRPr>
          </a:p>
          <a:p>
            <a:pPr indent="0" lvl="0" marL="0" rtl="0" algn="l">
              <a:spcBef>
                <a:spcPts val="1200"/>
              </a:spcBef>
              <a:spcAft>
                <a:spcPts val="0"/>
              </a:spcAft>
              <a:buNone/>
            </a:pPr>
            <a:r>
              <a:rPr b="1" lang="en-GB" sz="1550">
                <a:solidFill>
                  <a:srgbClr val="000000"/>
                </a:solidFill>
                <a:latin typeface="Arial"/>
                <a:ea typeface="Arial"/>
                <a:cs typeface="Arial"/>
                <a:sym typeface="Arial"/>
              </a:rPr>
              <a:t>Task:</a:t>
            </a:r>
            <a:r>
              <a:rPr lang="en-GB" sz="1550">
                <a:solidFill>
                  <a:srgbClr val="000000"/>
                </a:solidFill>
                <a:latin typeface="Arial"/>
                <a:ea typeface="Arial"/>
                <a:cs typeface="Arial"/>
                <a:sym typeface="Arial"/>
              </a:rPr>
              <a:t> Forecast future discrete events in continuous time</a:t>
            </a:r>
            <a:endParaRPr sz="1550">
              <a:solidFill>
                <a:srgbClr val="000000"/>
              </a:solidFill>
              <a:latin typeface="Arial"/>
              <a:ea typeface="Arial"/>
              <a:cs typeface="Arial"/>
              <a:sym typeface="Arial"/>
            </a:endParaRPr>
          </a:p>
          <a:p>
            <a:pPr indent="0" lvl="0" marL="0" rtl="0" algn="l">
              <a:spcBef>
                <a:spcPts val="1200"/>
              </a:spcBef>
              <a:spcAft>
                <a:spcPts val="0"/>
              </a:spcAft>
              <a:buNone/>
            </a:pPr>
            <a:r>
              <a:rPr b="1" lang="en-GB" sz="1550">
                <a:solidFill>
                  <a:srgbClr val="000000"/>
                </a:solidFill>
                <a:latin typeface="Arial"/>
                <a:ea typeface="Arial"/>
                <a:cs typeface="Arial"/>
                <a:sym typeface="Arial"/>
              </a:rPr>
              <a:t>Application Areas:</a:t>
            </a:r>
            <a:r>
              <a:rPr lang="en-GB" sz="1550">
                <a:solidFill>
                  <a:srgbClr val="000000"/>
                </a:solidFill>
                <a:latin typeface="Arial"/>
                <a:ea typeface="Arial"/>
                <a:cs typeface="Arial"/>
                <a:sym typeface="Arial"/>
              </a:rPr>
              <a:t> Finance, healthcare, social media, server logs</a:t>
            </a:r>
            <a:endParaRPr sz="1550">
              <a:solidFill>
                <a:srgbClr val="000000"/>
              </a:solidFill>
              <a:latin typeface="Arial"/>
              <a:ea typeface="Arial"/>
              <a:cs typeface="Arial"/>
              <a:sym typeface="Arial"/>
            </a:endParaRPr>
          </a:p>
          <a:p>
            <a:pPr indent="0" lvl="0" marL="0" rtl="0" algn="l">
              <a:spcBef>
                <a:spcPts val="1200"/>
              </a:spcBef>
              <a:spcAft>
                <a:spcPts val="0"/>
              </a:spcAft>
              <a:buNone/>
            </a:pPr>
            <a:r>
              <a:rPr b="1" lang="en-GB" sz="1550">
                <a:solidFill>
                  <a:srgbClr val="000000"/>
                </a:solidFill>
                <a:latin typeface="Arial"/>
                <a:ea typeface="Arial"/>
                <a:cs typeface="Arial"/>
                <a:sym typeface="Arial"/>
              </a:rPr>
              <a:t>Base Model:</a:t>
            </a:r>
            <a:r>
              <a:rPr lang="en-GB" sz="1550">
                <a:solidFill>
                  <a:srgbClr val="000000"/>
                </a:solidFill>
                <a:latin typeface="Arial"/>
                <a:ea typeface="Arial"/>
                <a:cs typeface="Arial"/>
                <a:sym typeface="Arial"/>
              </a:rPr>
              <a:t> Interacting Cross Diffusion Processes (CDiff) for TPP</a:t>
            </a:r>
            <a:endParaRPr sz="1550">
              <a:solidFill>
                <a:srgbClr val="000000"/>
              </a:solidFill>
              <a:latin typeface="Arial"/>
              <a:ea typeface="Arial"/>
              <a:cs typeface="Arial"/>
              <a:sym typeface="Arial"/>
            </a:endParaRPr>
          </a:p>
          <a:p>
            <a:pPr indent="0" lvl="0" marL="0" rtl="0" algn="l">
              <a:spcBef>
                <a:spcPts val="1200"/>
              </a:spcBef>
              <a:spcAft>
                <a:spcPts val="1200"/>
              </a:spcAft>
              <a:buNone/>
            </a:pPr>
            <a:r>
              <a:rPr b="1" lang="en-GB" sz="1550">
                <a:solidFill>
                  <a:srgbClr val="000000"/>
                </a:solidFill>
                <a:latin typeface="Arial"/>
                <a:ea typeface="Arial"/>
                <a:cs typeface="Arial"/>
                <a:sym typeface="Arial"/>
              </a:rPr>
              <a:t>Objective :</a:t>
            </a:r>
            <a:r>
              <a:rPr lang="en-GB" sz="1550">
                <a:solidFill>
                  <a:srgbClr val="000000"/>
                </a:solidFill>
                <a:latin typeface="Arial"/>
                <a:ea typeface="Arial"/>
                <a:cs typeface="Arial"/>
                <a:sym typeface="Arial"/>
              </a:rPr>
              <a:t> Requires no historical context during inference (unconditional generation)</a:t>
            </a:r>
            <a:endParaRPr sz="1500">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Temporal Point Process</a:t>
            </a:r>
            <a:endParaRPr/>
          </a:p>
        </p:txBody>
      </p:sp>
      <p:sp>
        <p:nvSpPr>
          <p:cNvPr id="141" name="Google Shape;141;p15"/>
          <p:cNvSpPr txBox="1"/>
          <p:nvPr>
            <p:ph idx="1" type="body"/>
          </p:nvPr>
        </p:nvSpPr>
        <p:spPr>
          <a:xfrm>
            <a:off x="819150" y="1539675"/>
            <a:ext cx="7505700" cy="2899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A Temporal Point Process (TPP) is a stochastic </a:t>
            </a:r>
            <a:r>
              <a:rPr lang="en-GB"/>
              <a:t>process</a:t>
            </a:r>
            <a:r>
              <a:rPr lang="en-GB"/>
              <a:t> that models the </a:t>
            </a:r>
            <a:r>
              <a:rPr lang="en-GB"/>
              <a:t>occurrence</a:t>
            </a:r>
            <a:r>
              <a:rPr lang="en-GB"/>
              <a:t> of events in </a:t>
            </a:r>
            <a:r>
              <a:rPr lang="en-GB"/>
              <a:t>continuous</a:t>
            </a:r>
            <a:r>
              <a:rPr lang="en-GB"/>
              <a:t> time.</a:t>
            </a:r>
            <a:endParaRPr/>
          </a:p>
          <a:p>
            <a:pPr indent="0" lvl="0" marL="0" rtl="0" algn="l">
              <a:spcBef>
                <a:spcPts val="1200"/>
              </a:spcBef>
              <a:spcAft>
                <a:spcPts val="0"/>
              </a:spcAft>
              <a:buNone/>
            </a:pPr>
            <a:r>
              <a:rPr lang="en-GB"/>
              <a:t>Characteristics:</a:t>
            </a:r>
            <a:endParaRPr/>
          </a:p>
          <a:p>
            <a:pPr indent="-311150" lvl="0" marL="457200" rtl="0" algn="l">
              <a:spcBef>
                <a:spcPts val="1200"/>
              </a:spcBef>
              <a:spcAft>
                <a:spcPts val="0"/>
              </a:spcAft>
              <a:buSzPts val="1300"/>
              <a:buChar char="-"/>
            </a:pPr>
            <a:r>
              <a:rPr lang="en-GB"/>
              <a:t>Events occur at irregular time intervals</a:t>
            </a:r>
            <a:endParaRPr/>
          </a:p>
          <a:p>
            <a:pPr indent="-311150" lvl="0" marL="457200" rtl="0" algn="l">
              <a:spcBef>
                <a:spcPts val="0"/>
              </a:spcBef>
              <a:spcAft>
                <a:spcPts val="0"/>
              </a:spcAft>
              <a:buSzPts val="1300"/>
              <a:buChar char="-"/>
            </a:pPr>
            <a:r>
              <a:rPr lang="en-GB"/>
              <a:t>Each event has an arrival time and a type/mark</a:t>
            </a:r>
            <a:endParaRPr/>
          </a:p>
          <a:p>
            <a:pPr indent="-311150" lvl="0" marL="457200" rtl="0" algn="l">
              <a:spcBef>
                <a:spcPts val="0"/>
              </a:spcBef>
              <a:spcAft>
                <a:spcPts val="0"/>
              </a:spcAft>
              <a:buSzPts val="1300"/>
              <a:buChar char="-"/>
            </a:pPr>
            <a:r>
              <a:rPr lang="en-GB"/>
              <a:t>Number of events in a window [0, T] is a random variable</a:t>
            </a:r>
            <a:endParaRPr/>
          </a:p>
          <a:p>
            <a:pPr indent="0" lvl="0" marL="0" rtl="0" algn="l">
              <a:spcBef>
                <a:spcPts val="1200"/>
              </a:spcBef>
              <a:spcAft>
                <a:spcPts val="0"/>
              </a:spcAft>
              <a:buNone/>
            </a:pPr>
            <a:r>
              <a:rPr lang="en-GB"/>
              <a:t>Examples:</a:t>
            </a:r>
            <a:endParaRPr/>
          </a:p>
          <a:p>
            <a:pPr indent="-311150" lvl="0" marL="457200" rtl="0" algn="l">
              <a:spcBef>
                <a:spcPts val="1200"/>
              </a:spcBef>
              <a:spcAft>
                <a:spcPts val="0"/>
              </a:spcAft>
              <a:buSzPts val="1300"/>
              <a:buChar char="-"/>
            </a:pPr>
            <a:r>
              <a:rPr lang="en-GB"/>
              <a:t>Customer browsing history</a:t>
            </a:r>
            <a:endParaRPr/>
          </a:p>
          <a:p>
            <a:pPr indent="-311150" lvl="0" marL="457200" rtl="0" algn="l">
              <a:spcBef>
                <a:spcPts val="0"/>
              </a:spcBef>
              <a:spcAft>
                <a:spcPts val="0"/>
              </a:spcAft>
              <a:buSzPts val="1300"/>
              <a:buChar char="-"/>
            </a:pPr>
            <a:r>
              <a:rPr lang="en-GB"/>
              <a:t>Taxi driver destinations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Motivation behind modelling TPPs</a:t>
            </a:r>
            <a:endParaRPr/>
          </a:p>
        </p:txBody>
      </p:sp>
      <p:sp>
        <p:nvSpPr>
          <p:cNvPr id="147" name="Google Shape;147;p16"/>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GB"/>
              <a:t>Temporal Events are </a:t>
            </a:r>
            <a:r>
              <a:rPr lang="en-GB"/>
              <a:t>everywhere</a:t>
            </a:r>
            <a:r>
              <a:rPr lang="en-GB"/>
              <a:t> in many domains as events which are </a:t>
            </a:r>
            <a:r>
              <a:rPr lang="en-GB"/>
              <a:t>time stamped</a:t>
            </a:r>
            <a:r>
              <a:rPr lang="en-GB"/>
              <a:t> and irregular are very common</a:t>
            </a:r>
            <a:endParaRPr/>
          </a:p>
          <a:p>
            <a:pPr indent="-311150" lvl="0" marL="457200" rtl="0" algn="l">
              <a:spcBef>
                <a:spcPts val="0"/>
              </a:spcBef>
              <a:spcAft>
                <a:spcPts val="0"/>
              </a:spcAft>
              <a:buSzPts val="1300"/>
              <a:buChar char="-"/>
            </a:pPr>
            <a:r>
              <a:rPr lang="en-GB"/>
              <a:t>Since number of events and the timings vary we need models that can model this variability accurately.</a:t>
            </a:r>
            <a:endParaRPr/>
          </a:p>
          <a:p>
            <a:pPr indent="-311150" lvl="0" marL="457200" rtl="0" algn="l">
              <a:spcBef>
                <a:spcPts val="0"/>
              </a:spcBef>
              <a:spcAft>
                <a:spcPts val="0"/>
              </a:spcAft>
              <a:buSzPts val="1300"/>
              <a:buChar char="-"/>
            </a:pPr>
            <a:r>
              <a:rPr lang="en-GB"/>
              <a:t>This will allow us to predict future events</a:t>
            </a:r>
            <a:endParaRPr/>
          </a:p>
          <a:p>
            <a:pPr indent="-311150" lvl="0" marL="457200" rtl="0" algn="l">
              <a:spcBef>
                <a:spcPts val="0"/>
              </a:spcBef>
              <a:spcAft>
                <a:spcPts val="0"/>
              </a:spcAft>
              <a:buSzPts val="1300"/>
              <a:buChar char="-"/>
            </a:pPr>
            <a:r>
              <a:rPr lang="en-GB"/>
              <a:t>It will help capture patterns like bursts, decay, excitation and inhibition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7"/>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Challenges in Modeling TPPs</a:t>
            </a:r>
            <a:endParaRPr/>
          </a:p>
        </p:txBody>
      </p:sp>
      <p:sp>
        <p:nvSpPr>
          <p:cNvPr id="153" name="Google Shape;153;p17"/>
          <p:cNvSpPr txBox="1"/>
          <p:nvPr>
            <p:ph idx="1" type="body"/>
          </p:nvPr>
        </p:nvSpPr>
        <p:spPr>
          <a:xfrm>
            <a:off x="819150" y="4407450"/>
            <a:ext cx="7505700" cy="312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1200"/>
              </a:spcAft>
              <a:buNone/>
            </a:pPr>
            <a:r>
              <a:t/>
            </a:r>
            <a:endParaRPr/>
          </a:p>
        </p:txBody>
      </p:sp>
      <p:graphicFrame>
        <p:nvGraphicFramePr>
          <p:cNvPr id="154" name="Google Shape;154;p17"/>
          <p:cNvGraphicFramePr/>
          <p:nvPr/>
        </p:nvGraphicFramePr>
        <p:xfrm>
          <a:off x="952500" y="1809750"/>
          <a:ext cx="3000000" cy="3000000"/>
        </p:xfrm>
        <a:graphic>
          <a:graphicData uri="http://schemas.openxmlformats.org/drawingml/2006/table">
            <a:tbl>
              <a:tblPr>
                <a:noFill/>
                <a:tableStyleId>{3F39375D-C9FD-481D-8582-E38D817CDE3A}</a:tableStyleId>
              </a:tblPr>
              <a:tblGrid>
                <a:gridCol w="3619500"/>
                <a:gridCol w="3619500"/>
              </a:tblGrid>
              <a:tr h="381000">
                <a:tc>
                  <a:txBody>
                    <a:bodyPr/>
                    <a:lstStyle/>
                    <a:p>
                      <a:pPr indent="0" lvl="0" marL="0" rtl="0" algn="l">
                        <a:spcBef>
                          <a:spcPts val="0"/>
                        </a:spcBef>
                        <a:spcAft>
                          <a:spcPts val="0"/>
                        </a:spcAft>
                        <a:buNone/>
                      </a:pPr>
                      <a:r>
                        <a:rPr b="1" lang="en-GB"/>
                        <a:t>Problem</a:t>
                      </a:r>
                      <a:endParaRPr b="1"/>
                    </a:p>
                  </a:txBody>
                  <a:tcPr marT="91425" marB="91425" marR="91425" marL="91425"/>
                </a:tc>
                <a:tc>
                  <a:txBody>
                    <a:bodyPr/>
                    <a:lstStyle/>
                    <a:p>
                      <a:pPr indent="0" lvl="0" marL="0" rtl="0" algn="l">
                        <a:spcBef>
                          <a:spcPts val="0"/>
                        </a:spcBef>
                        <a:spcAft>
                          <a:spcPts val="0"/>
                        </a:spcAft>
                        <a:buNone/>
                      </a:pPr>
                      <a:r>
                        <a:rPr b="1" lang="en-GB"/>
                        <a:t>Why it matters</a:t>
                      </a:r>
                      <a:endParaRPr b="1"/>
                    </a:p>
                  </a:txBody>
                  <a:tcPr marT="91425" marB="91425" marR="91425" marL="91425"/>
                </a:tc>
              </a:tr>
              <a:tr h="381000">
                <a:tc>
                  <a:txBody>
                    <a:bodyPr/>
                    <a:lstStyle/>
                    <a:p>
                      <a:pPr indent="0" lvl="0" marL="0" rtl="0" algn="l">
                        <a:spcBef>
                          <a:spcPts val="0"/>
                        </a:spcBef>
                        <a:spcAft>
                          <a:spcPts val="0"/>
                        </a:spcAft>
                        <a:buNone/>
                      </a:pPr>
                      <a:r>
                        <a:rPr lang="en-GB"/>
                        <a:t>Irregular timing</a:t>
                      </a:r>
                      <a:endParaRPr/>
                    </a:p>
                  </a:txBody>
                  <a:tcPr marT="91425" marB="91425" marR="91425" marL="91425"/>
                </a:tc>
                <a:tc>
                  <a:txBody>
                    <a:bodyPr/>
                    <a:lstStyle/>
                    <a:p>
                      <a:pPr indent="0" lvl="0" marL="0" rtl="0" algn="l">
                        <a:spcBef>
                          <a:spcPts val="0"/>
                        </a:spcBef>
                        <a:spcAft>
                          <a:spcPts val="0"/>
                        </a:spcAft>
                        <a:buNone/>
                      </a:pPr>
                      <a:r>
                        <a:rPr lang="en-GB"/>
                        <a:t>Not suited for fixed interval models like RNNs</a:t>
                      </a:r>
                      <a:endParaRPr/>
                    </a:p>
                  </a:txBody>
                  <a:tcPr marT="91425" marB="91425" marR="91425" marL="91425"/>
                </a:tc>
              </a:tr>
              <a:tr h="381000">
                <a:tc>
                  <a:txBody>
                    <a:bodyPr/>
                    <a:lstStyle/>
                    <a:p>
                      <a:pPr indent="0" lvl="0" marL="0" rtl="0" algn="l">
                        <a:spcBef>
                          <a:spcPts val="0"/>
                        </a:spcBef>
                        <a:spcAft>
                          <a:spcPts val="0"/>
                        </a:spcAft>
                        <a:buNone/>
                      </a:pPr>
                      <a:r>
                        <a:rPr lang="en-GB"/>
                        <a:t>Long term forecasting</a:t>
                      </a:r>
                      <a:endParaRPr/>
                    </a:p>
                  </a:txBody>
                  <a:tcPr marT="91425" marB="91425" marR="91425" marL="91425"/>
                </a:tc>
                <a:tc>
                  <a:txBody>
                    <a:bodyPr/>
                    <a:lstStyle/>
                    <a:p>
                      <a:pPr indent="0" lvl="0" marL="0" rtl="0" algn="l">
                        <a:spcBef>
                          <a:spcPts val="0"/>
                        </a:spcBef>
                        <a:spcAft>
                          <a:spcPts val="0"/>
                        </a:spcAft>
                        <a:buNone/>
                      </a:pPr>
                      <a:r>
                        <a:rPr lang="en-GB"/>
                        <a:t>Error compounds in autoregressive TPPs</a:t>
                      </a:r>
                      <a:endParaRPr/>
                    </a:p>
                  </a:txBody>
                  <a:tcPr marT="91425" marB="91425" marR="91425" marL="91425"/>
                </a:tc>
              </a:tr>
              <a:tr h="381000">
                <a:tc>
                  <a:txBody>
                    <a:bodyPr/>
                    <a:lstStyle/>
                    <a:p>
                      <a:pPr indent="0" lvl="0" marL="0" rtl="0" algn="l">
                        <a:spcBef>
                          <a:spcPts val="0"/>
                        </a:spcBef>
                        <a:spcAft>
                          <a:spcPts val="0"/>
                        </a:spcAft>
                        <a:buNone/>
                      </a:pPr>
                      <a:r>
                        <a:rPr lang="en-GB"/>
                        <a:t>Discontinuous distributions</a:t>
                      </a:r>
                      <a:endParaRPr/>
                    </a:p>
                  </a:txBody>
                  <a:tcPr marT="91425" marB="91425" marR="91425" marL="91425"/>
                </a:tc>
                <a:tc>
                  <a:txBody>
                    <a:bodyPr/>
                    <a:lstStyle/>
                    <a:p>
                      <a:pPr indent="0" lvl="0" marL="0" rtl="0" algn="l">
                        <a:spcBef>
                          <a:spcPts val="0"/>
                        </a:spcBef>
                        <a:spcAft>
                          <a:spcPts val="0"/>
                        </a:spcAft>
                        <a:buNone/>
                      </a:pPr>
                      <a:r>
                        <a:rPr lang="en-GB"/>
                        <a:t>Gaussian diffusion struggles with discrete events</a:t>
                      </a:r>
                      <a:endParaRPr/>
                    </a:p>
                  </a:txBody>
                  <a:tcPr marT="91425" marB="91425" marR="91425" marL="91425"/>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8"/>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lnSpc>
                <a:spcPct val="115000"/>
              </a:lnSpc>
              <a:spcBef>
                <a:spcPts val="1200"/>
              </a:spcBef>
              <a:spcAft>
                <a:spcPts val="1200"/>
              </a:spcAft>
              <a:buNone/>
            </a:pPr>
            <a:r>
              <a:rPr lang="en-GB"/>
              <a:t>Background and Context</a:t>
            </a:r>
            <a:endParaRPr/>
          </a:p>
        </p:txBody>
      </p:sp>
      <p:sp>
        <p:nvSpPr>
          <p:cNvPr id="160" name="Google Shape;160;p18"/>
          <p:cNvSpPr txBox="1"/>
          <p:nvPr>
            <p:ph idx="1" type="body"/>
          </p:nvPr>
        </p:nvSpPr>
        <p:spPr>
          <a:xfrm>
            <a:off x="819150" y="1535400"/>
            <a:ext cx="7505700" cy="2903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1100">
                <a:solidFill>
                  <a:srgbClr val="000000"/>
                </a:solidFill>
                <a:latin typeface="Arial"/>
                <a:ea typeface="Arial"/>
                <a:cs typeface="Arial"/>
                <a:sym typeface="Arial"/>
              </a:rPr>
              <a:t>Homogeneous Poisson Process (naive): </a:t>
            </a:r>
            <a:r>
              <a:rPr lang="en-GB" sz="1100">
                <a:solidFill>
                  <a:srgbClr val="000000"/>
                </a:solidFill>
                <a:latin typeface="Arial"/>
                <a:ea typeface="Arial"/>
                <a:cs typeface="Arial"/>
                <a:sym typeface="Arial"/>
              </a:rPr>
              <a:t>Constant Intensity function. Compute marginal categorical distribution over the training set</a:t>
            </a:r>
            <a:endParaRPr sz="1100">
              <a:solidFill>
                <a:srgbClr val="000000"/>
              </a:solidFill>
              <a:latin typeface="Arial"/>
              <a:ea typeface="Arial"/>
              <a:cs typeface="Arial"/>
              <a:sym typeface="Arial"/>
            </a:endParaRPr>
          </a:p>
          <a:p>
            <a:pPr indent="0" lvl="0" marL="0" rtl="0" algn="l">
              <a:spcBef>
                <a:spcPts val="1200"/>
              </a:spcBef>
              <a:spcAft>
                <a:spcPts val="0"/>
              </a:spcAft>
              <a:buNone/>
            </a:pPr>
            <a:r>
              <a:rPr b="1" lang="en-GB" sz="1100">
                <a:solidFill>
                  <a:srgbClr val="000000"/>
                </a:solidFill>
                <a:latin typeface="Arial"/>
                <a:ea typeface="Arial"/>
                <a:cs typeface="Arial"/>
                <a:sym typeface="Arial"/>
              </a:rPr>
              <a:t>Neural Hawkes Process:</a:t>
            </a:r>
            <a:r>
              <a:rPr lang="en-GB" sz="1100">
                <a:solidFill>
                  <a:srgbClr val="000000"/>
                </a:solidFill>
                <a:latin typeface="Arial"/>
                <a:ea typeface="Arial"/>
                <a:cs typeface="Arial"/>
                <a:sym typeface="Arial"/>
              </a:rPr>
              <a:t> Hawkes-based model that uses continuous LSTM</a:t>
            </a:r>
            <a:endParaRPr sz="1100">
              <a:solidFill>
                <a:srgbClr val="000000"/>
              </a:solidFill>
              <a:latin typeface="Arial"/>
              <a:ea typeface="Arial"/>
              <a:cs typeface="Arial"/>
              <a:sym typeface="Arial"/>
            </a:endParaRPr>
          </a:p>
          <a:p>
            <a:pPr indent="0" lvl="0" marL="0" rtl="0" algn="l">
              <a:spcBef>
                <a:spcPts val="1200"/>
              </a:spcBef>
              <a:spcAft>
                <a:spcPts val="0"/>
              </a:spcAft>
              <a:buNone/>
            </a:pPr>
            <a:r>
              <a:rPr b="1" lang="en-GB" sz="1100">
                <a:solidFill>
                  <a:srgbClr val="000000"/>
                </a:solidFill>
                <a:latin typeface="Arial"/>
                <a:ea typeface="Arial"/>
                <a:cs typeface="Arial"/>
                <a:sym typeface="Arial"/>
              </a:rPr>
              <a:t>Attentive Neural Hawkes Process (AttNHP): </a:t>
            </a:r>
            <a:r>
              <a:rPr lang="en-GB" sz="1100">
                <a:solidFill>
                  <a:srgbClr val="000000"/>
                </a:solidFill>
                <a:latin typeface="Arial"/>
                <a:ea typeface="Arial"/>
                <a:cs typeface="Arial"/>
                <a:sym typeface="Arial"/>
              </a:rPr>
              <a:t>Hawkes based model that integrates attention.</a:t>
            </a:r>
            <a:endParaRPr sz="1100">
              <a:solidFill>
                <a:srgbClr val="000000"/>
              </a:solidFill>
              <a:latin typeface="Arial"/>
              <a:ea typeface="Arial"/>
              <a:cs typeface="Arial"/>
              <a:sym typeface="Arial"/>
            </a:endParaRPr>
          </a:p>
          <a:p>
            <a:pPr indent="0" lvl="0" marL="0" rtl="0" algn="l">
              <a:spcBef>
                <a:spcPts val="1200"/>
              </a:spcBef>
              <a:spcAft>
                <a:spcPts val="0"/>
              </a:spcAft>
              <a:buNone/>
            </a:pPr>
            <a:r>
              <a:rPr b="1" lang="en-GB" sz="1100">
                <a:solidFill>
                  <a:srgbClr val="000000"/>
                </a:solidFill>
                <a:latin typeface="Arial"/>
                <a:ea typeface="Arial"/>
                <a:cs typeface="Arial"/>
                <a:sym typeface="Arial"/>
              </a:rPr>
              <a:t>IFL-TPP:</a:t>
            </a:r>
            <a:r>
              <a:rPr lang="en-GB" sz="1100">
                <a:solidFill>
                  <a:srgbClr val="000000"/>
                </a:solidFill>
                <a:latin typeface="Arial"/>
                <a:ea typeface="Arial"/>
                <a:cs typeface="Arial"/>
                <a:sym typeface="Arial"/>
              </a:rPr>
              <a:t> Intensity-free temporal point process with the feature of fast sampling</a:t>
            </a:r>
            <a:endParaRPr sz="1100">
              <a:solidFill>
                <a:srgbClr val="000000"/>
              </a:solidFill>
              <a:latin typeface="Arial"/>
              <a:ea typeface="Arial"/>
              <a:cs typeface="Arial"/>
              <a:sym typeface="Arial"/>
            </a:endParaRPr>
          </a:p>
          <a:p>
            <a:pPr indent="0" lvl="0" marL="0" rtl="0" algn="l">
              <a:spcBef>
                <a:spcPts val="1200"/>
              </a:spcBef>
              <a:spcAft>
                <a:spcPts val="1200"/>
              </a:spcAft>
              <a:buNone/>
            </a:pPr>
            <a:r>
              <a:rPr b="1" lang="en-GB" sz="1100">
                <a:solidFill>
                  <a:srgbClr val="000000"/>
                </a:solidFill>
                <a:latin typeface="Arial"/>
                <a:ea typeface="Arial"/>
                <a:cs typeface="Arial"/>
                <a:sym typeface="Arial"/>
              </a:rPr>
              <a:t>HYPRO:</a:t>
            </a:r>
            <a:r>
              <a:rPr lang="en-GB" sz="1100">
                <a:solidFill>
                  <a:srgbClr val="000000"/>
                </a:solidFill>
                <a:latin typeface="Arial"/>
                <a:ea typeface="Arial"/>
                <a:cs typeface="Arial"/>
                <a:sym typeface="Arial"/>
              </a:rPr>
              <a:t> SOTA for multi-event/long horizon forecasting. Uses AttNHP as base model but also includes a sequence selection module.</a:t>
            </a:r>
            <a:endParaRPr b="1" sz="1100">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9"/>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Hawkes Process (conditional intensity function)</a:t>
            </a:r>
            <a:endParaRPr/>
          </a:p>
        </p:txBody>
      </p:sp>
      <p:sp>
        <p:nvSpPr>
          <p:cNvPr id="166" name="Google Shape;166;p19"/>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67" name="Google Shape;167;p19" title="pdf_cdf_sf.png"/>
          <p:cNvPicPr preferRelativeResize="0"/>
          <p:nvPr/>
        </p:nvPicPr>
        <p:blipFill>
          <a:blip r:embed="rId3">
            <a:alphaModFix/>
          </a:blip>
          <a:stretch>
            <a:fillRect/>
          </a:stretch>
        </p:blipFill>
        <p:spPr>
          <a:xfrm>
            <a:off x="819150" y="1800200"/>
            <a:ext cx="5453875" cy="27269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0"/>
          <p:cNvSpPr txBox="1"/>
          <p:nvPr>
            <p:ph type="title"/>
          </p:nvPr>
        </p:nvSpPr>
        <p:spPr>
          <a:xfrm>
            <a:off x="563700" y="391675"/>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IFL-TPP</a:t>
            </a:r>
            <a:endParaRPr/>
          </a:p>
        </p:txBody>
      </p:sp>
      <p:sp>
        <p:nvSpPr>
          <p:cNvPr id="173" name="Google Shape;173;p20"/>
          <p:cNvSpPr txBox="1"/>
          <p:nvPr>
            <p:ph idx="1" type="body"/>
          </p:nvPr>
        </p:nvSpPr>
        <p:spPr>
          <a:xfrm>
            <a:off x="540750" y="1173675"/>
            <a:ext cx="8034000" cy="3445200"/>
          </a:xfrm>
          <a:prstGeom prst="rect">
            <a:avLst/>
          </a:prstGeom>
        </p:spPr>
        <p:txBody>
          <a:bodyPr anchorCtr="0" anchor="t" bIns="91425" lIns="91425" spcFirstLastPara="1" rIns="91425" wrap="square" tIns="91425">
            <a:normAutofit lnSpcReduction="20000"/>
          </a:bodyPr>
          <a:lstStyle/>
          <a:p>
            <a:pPr indent="0" lvl="0" marL="0" rtl="0" algn="l">
              <a:spcBef>
                <a:spcPts val="1200"/>
              </a:spcBef>
              <a:spcAft>
                <a:spcPts val="0"/>
              </a:spcAft>
              <a:buNone/>
            </a:pPr>
            <a:r>
              <a:rPr b="1" lang="en-GB" sz="1100">
                <a:solidFill>
                  <a:srgbClr val="000000"/>
                </a:solidFill>
                <a:latin typeface="Arial"/>
                <a:ea typeface="Arial"/>
                <a:cs typeface="Arial"/>
                <a:sym typeface="Arial"/>
              </a:rPr>
              <a:t>Problem with Traditional TPPs:</a:t>
            </a:r>
            <a:endParaRPr b="1"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GB" sz="1100">
                <a:solidFill>
                  <a:srgbClr val="000000"/>
                </a:solidFill>
                <a:latin typeface="Arial"/>
                <a:ea typeface="Arial"/>
                <a:cs typeface="Arial"/>
                <a:sym typeface="Arial"/>
              </a:rPr>
              <a:t>Models event timing using intensity function λ(t|Hₜ)</a:t>
            </a:r>
            <a:br>
              <a:rPr lang="en-GB"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GB" sz="1100">
                <a:solidFill>
                  <a:srgbClr val="000000"/>
                </a:solidFill>
                <a:latin typeface="Arial"/>
                <a:ea typeface="Arial"/>
                <a:cs typeface="Arial"/>
                <a:sym typeface="Arial"/>
              </a:rPr>
              <a:t>Requires computing intractable integral: ∫₀ᵀλ(s|Hₛ)ds</a:t>
            </a:r>
            <a:br>
              <a:rPr lang="en-GB"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GB" sz="1100">
                <a:solidFill>
                  <a:srgbClr val="000000"/>
                </a:solidFill>
                <a:latin typeface="Arial"/>
                <a:ea typeface="Arial"/>
                <a:cs typeface="Arial"/>
                <a:sym typeface="Arial"/>
              </a:rPr>
              <a:t>Complex models need expensive numerical or Monte Carlo methods</a:t>
            </a:r>
            <a:endParaRPr sz="1100">
              <a:solidFill>
                <a:srgbClr val="000000"/>
              </a:solidFill>
              <a:latin typeface="Arial"/>
              <a:ea typeface="Arial"/>
              <a:cs typeface="Arial"/>
              <a:sym typeface="Arial"/>
            </a:endParaRPr>
          </a:p>
          <a:p>
            <a:pPr indent="0" lvl="0" marL="0" rtl="0" algn="l">
              <a:spcBef>
                <a:spcPts val="1200"/>
              </a:spcBef>
              <a:spcAft>
                <a:spcPts val="0"/>
              </a:spcAft>
              <a:buNone/>
            </a:pPr>
            <a:r>
              <a:rPr b="1" lang="en-GB" sz="1100">
                <a:solidFill>
                  <a:srgbClr val="000000"/>
                </a:solidFill>
                <a:latin typeface="Arial"/>
                <a:ea typeface="Arial"/>
                <a:cs typeface="Arial"/>
                <a:sym typeface="Arial"/>
              </a:rPr>
              <a:t>Proposed Solution:</a:t>
            </a:r>
            <a:br>
              <a:rPr b="1" lang="en-GB" sz="1100">
                <a:solidFill>
                  <a:srgbClr val="000000"/>
                </a:solidFill>
                <a:latin typeface="Arial"/>
                <a:ea typeface="Arial"/>
                <a:cs typeface="Arial"/>
                <a:sym typeface="Arial"/>
              </a:rPr>
            </a:br>
            <a:r>
              <a:rPr lang="en-GB" sz="1100">
                <a:solidFill>
                  <a:srgbClr val="000000"/>
                </a:solidFill>
                <a:latin typeface="Arial"/>
                <a:ea typeface="Arial"/>
                <a:cs typeface="Arial"/>
                <a:sym typeface="Arial"/>
              </a:rPr>
              <a:t> </a:t>
            </a:r>
            <a:r>
              <a:rPr b="1" lang="en-GB" sz="1100">
                <a:solidFill>
                  <a:srgbClr val="000000"/>
                </a:solidFill>
                <a:latin typeface="Arial"/>
                <a:ea typeface="Arial"/>
                <a:cs typeface="Arial"/>
                <a:sym typeface="Arial"/>
              </a:rPr>
              <a:t>No intensity function</a:t>
            </a:r>
            <a:r>
              <a:rPr lang="en-GB" sz="1100">
                <a:solidFill>
                  <a:srgbClr val="000000"/>
                </a:solidFill>
                <a:latin typeface="Arial"/>
                <a:ea typeface="Arial"/>
                <a:cs typeface="Arial"/>
                <a:sym typeface="Arial"/>
              </a:rPr>
              <a:t> — model inter-event time distribution </a:t>
            </a:r>
            <a:r>
              <a:rPr i="1" lang="en-GB" sz="1100">
                <a:solidFill>
                  <a:srgbClr val="000000"/>
                </a:solidFill>
                <a:latin typeface="Arial"/>
                <a:ea typeface="Arial"/>
                <a:cs typeface="Arial"/>
                <a:sym typeface="Arial"/>
              </a:rPr>
              <a:t>p(τᵢ | Hₜᵢ)</a:t>
            </a:r>
            <a:r>
              <a:rPr lang="en-GB" sz="1100">
                <a:solidFill>
                  <a:srgbClr val="000000"/>
                </a:solidFill>
                <a:latin typeface="Arial"/>
                <a:ea typeface="Arial"/>
                <a:cs typeface="Arial"/>
                <a:sym typeface="Arial"/>
              </a:rPr>
              <a:t> directly</a:t>
            </a:r>
            <a:endParaRPr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GB" sz="1100">
                <a:solidFill>
                  <a:srgbClr val="000000"/>
                </a:solidFill>
                <a:latin typeface="Arial"/>
                <a:ea typeface="Arial"/>
                <a:cs typeface="Arial"/>
                <a:sym typeface="Arial"/>
              </a:rPr>
              <a:t>τᵢ = tᵢ – tᵢ₋₁</a:t>
            </a:r>
            <a:endParaRPr sz="1100">
              <a:solidFill>
                <a:srgbClr val="000000"/>
              </a:solidFill>
              <a:latin typeface="Arial"/>
              <a:ea typeface="Arial"/>
              <a:cs typeface="Arial"/>
              <a:sym typeface="Arial"/>
            </a:endParaRPr>
          </a:p>
          <a:p>
            <a:pPr indent="0" lvl="0" marL="0" rtl="0" algn="l">
              <a:spcBef>
                <a:spcPts val="1200"/>
              </a:spcBef>
              <a:spcAft>
                <a:spcPts val="0"/>
              </a:spcAft>
              <a:buNone/>
            </a:pPr>
            <a:r>
              <a:rPr b="1" lang="en-GB" sz="1100">
                <a:solidFill>
                  <a:srgbClr val="000000"/>
                </a:solidFill>
                <a:latin typeface="Arial"/>
                <a:ea typeface="Arial"/>
                <a:cs typeface="Arial"/>
                <a:sym typeface="Arial"/>
              </a:rPr>
              <a:t>Modeling Techniques:</a:t>
            </a:r>
            <a:endParaRPr b="1"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b="1" lang="en-GB" sz="1100">
                <a:solidFill>
                  <a:srgbClr val="000000"/>
                </a:solidFill>
                <a:latin typeface="Arial"/>
                <a:ea typeface="Arial"/>
                <a:cs typeface="Arial"/>
                <a:sym typeface="Arial"/>
              </a:rPr>
              <a:t>Normalizing Flows:</a:t>
            </a:r>
            <a:r>
              <a:rPr lang="en-GB" sz="1100">
                <a:solidFill>
                  <a:srgbClr val="000000"/>
                </a:solidFill>
                <a:latin typeface="Arial"/>
                <a:ea typeface="Arial"/>
                <a:cs typeface="Arial"/>
                <a:sym typeface="Arial"/>
              </a:rPr>
              <a:t> Flexible, invertible density estimation</a:t>
            </a:r>
            <a:br>
              <a:rPr lang="en-GB"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n-GB" sz="1100">
                <a:solidFill>
                  <a:srgbClr val="000000"/>
                </a:solidFill>
                <a:latin typeface="Arial"/>
                <a:ea typeface="Arial"/>
                <a:cs typeface="Arial"/>
                <a:sym typeface="Arial"/>
              </a:rPr>
              <a:t>Mixture Models:</a:t>
            </a:r>
            <a:r>
              <a:rPr lang="en-GB" sz="1100">
                <a:solidFill>
                  <a:srgbClr val="000000"/>
                </a:solidFill>
                <a:latin typeface="Arial"/>
                <a:ea typeface="Arial"/>
                <a:cs typeface="Arial"/>
                <a:sym typeface="Arial"/>
              </a:rPr>
              <a:t> Simpler, closed-form (e.g., log-normal)</a:t>
            </a:r>
            <a:br>
              <a:rPr lang="en-GB"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GB" sz="1100">
                <a:solidFill>
                  <a:srgbClr val="000000"/>
                </a:solidFill>
                <a:latin typeface="Arial"/>
                <a:ea typeface="Arial"/>
                <a:cs typeface="Arial"/>
                <a:sym typeface="Arial"/>
              </a:rPr>
              <a:t>Both conditioned on history via RNN encoder</a:t>
            </a:r>
            <a:endParaRPr/>
          </a:p>
        </p:txBody>
      </p:sp>
      <p:pic>
        <p:nvPicPr>
          <p:cNvPr id="174" name="Google Shape;174;p20" title="screenshot_2025-06-25_23:59:09.png"/>
          <p:cNvPicPr preferRelativeResize="0"/>
          <p:nvPr/>
        </p:nvPicPr>
        <p:blipFill>
          <a:blip r:embed="rId3">
            <a:alphaModFix/>
          </a:blip>
          <a:stretch>
            <a:fillRect/>
          </a:stretch>
        </p:blipFill>
        <p:spPr>
          <a:xfrm>
            <a:off x="5141575" y="3039725"/>
            <a:ext cx="3657600" cy="18097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1"/>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What is CDiff</a:t>
            </a:r>
            <a:endParaRPr/>
          </a:p>
        </p:txBody>
      </p:sp>
      <p:sp>
        <p:nvSpPr>
          <p:cNvPr id="180" name="Google Shape;180;p21"/>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100">
                <a:latin typeface="Arial"/>
                <a:ea typeface="Arial"/>
                <a:cs typeface="Arial"/>
                <a:sym typeface="Arial"/>
              </a:rPr>
              <a:t>CDiff is a transformer based conditional denoising diffusion model for TPPs. It is designed to learn sequence generation in a continuous time</a:t>
            </a:r>
            <a:endParaRPr sz="1100">
              <a:latin typeface="Arial"/>
              <a:ea typeface="Arial"/>
              <a:cs typeface="Arial"/>
              <a:sym typeface="Arial"/>
            </a:endParaRPr>
          </a:p>
          <a:p>
            <a:pPr indent="0" lvl="0" marL="0" rtl="0" algn="l">
              <a:spcBef>
                <a:spcPts val="1200"/>
              </a:spcBef>
              <a:spcAft>
                <a:spcPts val="1200"/>
              </a:spcAft>
              <a:buNone/>
            </a:pPr>
            <a:r>
              <a:t/>
            </a:r>
            <a:endParaRPr/>
          </a:p>
        </p:txBody>
      </p:sp>
      <p:graphicFrame>
        <p:nvGraphicFramePr>
          <p:cNvPr id="181" name="Google Shape;181;p21"/>
          <p:cNvGraphicFramePr/>
          <p:nvPr/>
        </p:nvGraphicFramePr>
        <p:xfrm>
          <a:off x="952500" y="2795050"/>
          <a:ext cx="3000000" cy="3000000"/>
        </p:xfrm>
        <a:graphic>
          <a:graphicData uri="http://schemas.openxmlformats.org/drawingml/2006/table">
            <a:tbl>
              <a:tblPr>
                <a:noFill/>
                <a:tableStyleId>{3F39375D-C9FD-481D-8582-E38D817CDE3A}</a:tableStyleId>
              </a:tblPr>
              <a:tblGrid>
                <a:gridCol w="3619500"/>
                <a:gridCol w="3619500"/>
              </a:tblGrid>
              <a:tr h="304825">
                <a:tc>
                  <a:txBody>
                    <a:bodyPr/>
                    <a:lstStyle/>
                    <a:p>
                      <a:pPr indent="0" lvl="0" marL="0" rtl="0" algn="l">
                        <a:spcBef>
                          <a:spcPts val="0"/>
                        </a:spcBef>
                        <a:spcAft>
                          <a:spcPts val="0"/>
                        </a:spcAft>
                        <a:buNone/>
                      </a:pPr>
                      <a:r>
                        <a:rPr lang="en-GB"/>
                        <a:t>Component</a:t>
                      </a:r>
                      <a:endParaRPr/>
                    </a:p>
                  </a:txBody>
                  <a:tcPr marT="91425" marB="91425" marR="91425" marL="91425"/>
                </a:tc>
                <a:tc>
                  <a:txBody>
                    <a:bodyPr/>
                    <a:lstStyle/>
                    <a:p>
                      <a:pPr indent="0" lvl="0" marL="0" rtl="0" algn="l">
                        <a:spcBef>
                          <a:spcPts val="0"/>
                        </a:spcBef>
                        <a:spcAft>
                          <a:spcPts val="0"/>
                        </a:spcAft>
                        <a:buNone/>
                      </a:pPr>
                      <a:r>
                        <a:rPr lang="en-GB"/>
                        <a:t>Purpose</a:t>
                      </a:r>
                      <a:endParaRPr/>
                    </a:p>
                  </a:txBody>
                  <a:tcPr marT="91425" marB="91425" marR="91425" marL="91425"/>
                </a:tc>
              </a:tr>
              <a:tr h="304825">
                <a:tc>
                  <a:txBody>
                    <a:bodyPr/>
                    <a:lstStyle/>
                    <a:p>
                      <a:pPr indent="0" lvl="0" marL="0" rtl="0" algn="l">
                        <a:spcBef>
                          <a:spcPts val="0"/>
                        </a:spcBef>
                        <a:spcAft>
                          <a:spcPts val="0"/>
                        </a:spcAft>
                        <a:buNone/>
                      </a:pPr>
                      <a:r>
                        <a:rPr lang="en-GB"/>
                        <a:t>Full sequence modeling</a:t>
                      </a:r>
                      <a:endParaRPr/>
                    </a:p>
                  </a:txBody>
                  <a:tcPr marT="91425" marB="91425" marR="91425" marL="91425"/>
                </a:tc>
                <a:tc>
                  <a:txBody>
                    <a:bodyPr/>
                    <a:lstStyle/>
                    <a:p>
                      <a:pPr indent="0" lvl="0" marL="0" rtl="0" algn="l">
                        <a:spcBef>
                          <a:spcPts val="0"/>
                        </a:spcBef>
                        <a:spcAft>
                          <a:spcPts val="0"/>
                        </a:spcAft>
                        <a:buNone/>
                      </a:pPr>
                      <a:r>
                        <a:rPr lang="en-GB"/>
                        <a:t>Avoids error accumulation in autoregressive setup</a:t>
                      </a:r>
                      <a:endParaRPr/>
                    </a:p>
                  </a:txBody>
                  <a:tcPr marT="91425" marB="91425" marR="91425" marL="91425"/>
                </a:tc>
              </a:tr>
              <a:tr h="304825">
                <a:tc>
                  <a:txBody>
                    <a:bodyPr/>
                    <a:lstStyle/>
                    <a:p>
                      <a:pPr indent="0" lvl="0" marL="0" rtl="0" algn="l">
                        <a:spcBef>
                          <a:spcPts val="0"/>
                        </a:spcBef>
                        <a:spcAft>
                          <a:spcPts val="0"/>
                        </a:spcAft>
                        <a:buNone/>
                      </a:pPr>
                      <a:r>
                        <a:rPr lang="en-GB"/>
                        <a:t>Time and Type prediction</a:t>
                      </a:r>
                      <a:endParaRPr/>
                    </a:p>
                  </a:txBody>
                  <a:tcPr marT="91425" marB="91425" marR="91425" marL="91425"/>
                </a:tc>
                <a:tc>
                  <a:txBody>
                    <a:bodyPr/>
                    <a:lstStyle/>
                    <a:p>
                      <a:pPr indent="0" lvl="0" marL="0" rtl="0" algn="l">
                        <a:spcBef>
                          <a:spcPts val="0"/>
                        </a:spcBef>
                        <a:spcAft>
                          <a:spcPts val="0"/>
                        </a:spcAft>
                        <a:buNone/>
                      </a:pPr>
                      <a:r>
                        <a:rPr lang="en-GB"/>
                        <a:t>Jointly models both of these</a:t>
                      </a:r>
                      <a:endParaRPr/>
                    </a:p>
                  </a:txBody>
                  <a:tcPr marT="91425" marB="91425" marR="91425" marL="91425"/>
                </a:tc>
              </a:tr>
              <a:tr h="304825">
                <a:tc>
                  <a:txBody>
                    <a:bodyPr/>
                    <a:lstStyle/>
                    <a:p>
                      <a:pPr indent="0" lvl="0" marL="0" rtl="0" algn="l">
                        <a:spcBef>
                          <a:spcPts val="0"/>
                        </a:spcBef>
                        <a:spcAft>
                          <a:spcPts val="0"/>
                        </a:spcAft>
                        <a:buNone/>
                      </a:pPr>
                      <a:r>
                        <a:rPr lang="en-GB"/>
                        <a:t>Transformer backbone</a:t>
                      </a:r>
                      <a:endParaRPr/>
                    </a:p>
                  </a:txBody>
                  <a:tcPr marT="91425" marB="91425" marR="91425" marL="91425"/>
                </a:tc>
                <a:tc>
                  <a:txBody>
                    <a:bodyPr/>
                    <a:lstStyle/>
                    <a:p>
                      <a:pPr indent="0" lvl="0" marL="0" rtl="0" algn="l">
                        <a:spcBef>
                          <a:spcPts val="0"/>
                        </a:spcBef>
                        <a:spcAft>
                          <a:spcPts val="0"/>
                        </a:spcAft>
                        <a:buNone/>
                      </a:pPr>
                      <a:r>
                        <a:rPr lang="en-GB"/>
                        <a:t>Captures long-range dependencies</a:t>
                      </a:r>
                      <a:endParaRPr/>
                    </a:p>
                  </a:txBody>
                  <a:tcPr marT="91425" marB="91425" marR="91425" marL="91425"/>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2"/>
          <p:cNvSpPr txBox="1"/>
          <p:nvPr>
            <p:ph type="title"/>
          </p:nvPr>
        </p:nvSpPr>
        <p:spPr>
          <a:xfrm>
            <a:off x="756175" y="41265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System Overview</a:t>
            </a:r>
            <a:endParaRPr/>
          </a:p>
        </p:txBody>
      </p:sp>
      <p:sp>
        <p:nvSpPr>
          <p:cNvPr id="187" name="Google Shape;187;p22"/>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88" name="Google Shape;188;p22" title="screenshot_2025-06-23_15:29:34.png"/>
          <p:cNvPicPr preferRelativeResize="0"/>
          <p:nvPr/>
        </p:nvPicPr>
        <p:blipFill>
          <a:blip r:embed="rId3">
            <a:alphaModFix/>
          </a:blip>
          <a:stretch>
            <a:fillRect/>
          </a:stretch>
        </p:blipFill>
        <p:spPr>
          <a:xfrm>
            <a:off x="2579851" y="1020200"/>
            <a:ext cx="3779650" cy="36431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3"/>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Unconditional Generation</a:t>
            </a:r>
            <a:endParaRPr/>
          </a:p>
        </p:txBody>
      </p:sp>
      <p:sp>
        <p:nvSpPr>
          <p:cNvPr id="194" name="Google Shape;194;p23"/>
          <p:cNvSpPr txBox="1"/>
          <p:nvPr>
            <p:ph idx="1" type="body"/>
          </p:nvPr>
        </p:nvSpPr>
        <p:spPr>
          <a:xfrm>
            <a:off x="819150" y="1527800"/>
            <a:ext cx="7505700" cy="29109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GB" sz="1100">
                <a:solidFill>
                  <a:srgbClr val="000000"/>
                </a:solidFill>
                <a:latin typeface="Arial"/>
                <a:ea typeface="Arial"/>
                <a:cs typeface="Arial"/>
                <a:sym typeface="Arial"/>
              </a:rPr>
              <a:t>Original Setup:</a:t>
            </a:r>
            <a:endParaRPr b="1"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GB" sz="1100">
                <a:solidFill>
                  <a:srgbClr val="000000"/>
                </a:solidFill>
                <a:latin typeface="Arial"/>
                <a:ea typeface="Arial"/>
                <a:cs typeface="Arial"/>
                <a:sym typeface="Arial"/>
              </a:rPr>
              <a:t>Train-time: Interactions used to generate tgt number of event(timestamp-type pairs) using (n-tgt) as history context</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GB" sz="1100">
                <a:solidFill>
                  <a:srgbClr val="000000"/>
                </a:solidFill>
                <a:latin typeface="Arial"/>
                <a:ea typeface="Arial"/>
                <a:cs typeface="Arial"/>
                <a:sym typeface="Arial"/>
              </a:rPr>
              <a:t>Inference-time: Same context used</a:t>
            </a:r>
            <a:endParaRPr sz="1100">
              <a:solidFill>
                <a:srgbClr val="000000"/>
              </a:solidFill>
              <a:latin typeface="Arial"/>
              <a:ea typeface="Arial"/>
              <a:cs typeface="Arial"/>
              <a:sym typeface="Arial"/>
            </a:endParaRPr>
          </a:p>
          <a:p>
            <a:pPr indent="0" lvl="0" marL="0" rtl="0" algn="l">
              <a:spcBef>
                <a:spcPts val="1200"/>
              </a:spcBef>
              <a:spcAft>
                <a:spcPts val="0"/>
              </a:spcAft>
              <a:buNone/>
            </a:pPr>
            <a:r>
              <a:rPr b="1" lang="en-GB" sz="1100">
                <a:solidFill>
                  <a:srgbClr val="000000"/>
                </a:solidFill>
                <a:latin typeface="Arial"/>
                <a:ea typeface="Arial"/>
                <a:cs typeface="Arial"/>
                <a:sym typeface="Arial"/>
              </a:rPr>
              <a:t>Our Work:</a:t>
            </a:r>
            <a:endParaRPr b="1"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GB" sz="1100">
                <a:solidFill>
                  <a:srgbClr val="000000"/>
                </a:solidFill>
                <a:latin typeface="Arial"/>
                <a:ea typeface="Arial"/>
                <a:cs typeface="Arial"/>
                <a:sym typeface="Arial"/>
              </a:rPr>
              <a:t>Inference does non conditional generation using no history originally and then feeding the no context generations as history for next generation till target </a:t>
            </a:r>
            <a:r>
              <a:rPr lang="en-GB" sz="1100">
                <a:solidFill>
                  <a:srgbClr val="000000"/>
                </a:solidFill>
                <a:latin typeface="Arial"/>
                <a:ea typeface="Arial"/>
                <a:cs typeface="Arial"/>
                <a:sym typeface="Arial"/>
              </a:rPr>
              <a:t>timestamp</a:t>
            </a:r>
            <a:r>
              <a:rPr lang="en-GB" sz="1100">
                <a:solidFill>
                  <a:srgbClr val="000000"/>
                </a:solidFill>
                <a:latin typeface="Arial"/>
                <a:ea typeface="Arial"/>
                <a:cs typeface="Arial"/>
                <a:sym typeface="Arial"/>
              </a:rPr>
              <a:t> is reached</a:t>
            </a:r>
            <a:endParaRPr b="1"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GB" sz="1100">
                <a:solidFill>
                  <a:srgbClr val="000000"/>
                </a:solidFill>
                <a:latin typeface="Arial"/>
                <a:ea typeface="Arial"/>
                <a:cs typeface="Arial"/>
                <a:sym typeface="Arial"/>
              </a:rPr>
              <a:t>No access to the historical trajectory of the current sequence</a:t>
            </a:r>
            <a:endParaRPr sz="1100">
              <a:solidFill>
                <a:srgbClr val="000000"/>
              </a:solidFill>
              <a:latin typeface="Arial"/>
              <a:ea typeface="Arial"/>
              <a:cs typeface="Arial"/>
              <a:sym typeface="Arial"/>
            </a:endParaRPr>
          </a:p>
          <a:p>
            <a:pPr indent="0" lvl="0" marL="0" rtl="0" algn="l">
              <a:spcBef>
                <a:spcPts val="1200"/>
              </a:spcBef>
              <a:spcAft>
                <a:spcPts val="0"/>
              </a:spcAft>
              <a:buNone/>
            </a:pPr>
            <a:r>
              <a:rPr b="1" lang="en-GB" sz="1100">
                <a:solidFill>
                  <a:srgbClr val="000000"/>
                </a:solidFill>
                <a:latin typeface="Arial"/>
                <a:ea typeface="Arial"/>
                <a:cs typeface="Arial"/>
                <a:sym typeface="Arial"/>
              </a:rPr>
              <a:t>Research Question:</a:t>
            </a:r>
            <a:endParaRPr b="1"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GB" sz="1100">
                <a:solidFill>
                  <a:srgbClr val="000000"/>
                </a:solidFill>
                <a:latin typeface="Arial"/>
                <a:ea typeface="Arial"/>
                <a:cs typeface="Arial"/>
                <a:sym typeface="Arial"/>
              </a:rPr>
              <a:t>How much predictive performance is retained while providing no history context from original data?</a:t>
            </a:r>
            <a:endParaRPr b="1" sz="1100">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Motivation behind removing context</a:t>
            </a:r>
            <a:endParaRPr/>
          </a:p>
        </p:txBody>
      </p:sp>
      <p:sp>
        <p:nvSpPr>
          <p:cNvPr id="200" name="Google Shape;200;p2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fontScale="77500" lnSpcReduction="20000"/>
          </a:bodyPr>
          <a:lstStyle/>
          <a:p>
            <a:pPr indent="0" lvl="0" marL="0" rtl="0" algn="l">
              <a:spcBef>
                <a:spcPts val="1200"/>
              </a:spcBef>
              <a:spcAft>
                <a:spcPts val="0"/>
              </a:spcAft>
              <a:buNone/>
            </a:pPr>
            <a:r>
              <a:rPr b="1" lang="en-GB" sz="1100">
                <a:solidFill>
                  <a:srgbClr val="000000"/>
                </a:solidFill>
                <a:latin typeface="Arial"/>
                <a:ea typeface="Arial"/>
                <a:cs typeface="Arial"/>
                <a:sym typeface="Arial"/>
              </a:rPr>
              <a:t>Practicality:</a:t>
            </a:r>
            <a:r>
              <a:rPr lang="en-GB" sz="1100">
                <a:solidFill>
                  <a:srgbClr val="000000"/>
                </a:solidFill>
                <a:latin typeface="Arial"/>
                <a:ea typeface="Arial"/>
                <a:cs typeface="Arial"/>
                <a:sym typeface="Arial"/>
              </a:rPr>
              <a:t> Real-world applications often lack access to complete or reliable event histories.</a:t>
            </a:r>
            <a:endParaRPr sz="1100">
              <a:solidFill>
                <a:srgbClr val="000000"/>
              </a:solidFill>
              <a:latin typeface="Arial"/>
              <a:ea typeface="Arial"/>
              <a:cs typeface="Arial"/>
              <a:sym typeface="Arial"/>
            </a:endParaRPr>
          </a:p>
          <a:p>
            <a:pPr indent="0" lvl="0" marL="0" rtl="0" algn="l">
              <a:spcBef>
                <a:spcPts val="1200"/>
              </a:spcBef>
              <a:spcAft>
                <a:spcPts val="0"/>
              </a:spcAft>
              <a:buNone/>
            </a:pPr>
            <a:r>
              <a:rPr b="1" lang="en-GB" sz="1100">
                <a:solidFill>
                  <a:srgbClr val="000000"/>
                </a:solidFill>
                <a:latin typeface="Arial"/>
                <a:ea typeface="Arial"/>
                <a:cs typeface="Arial"/>
                <a:sym typeface="Arial"/>
              </a:rPr>
              <a:t>Autonomous Forecasting:</a:t>
            </a:r>
            <a:r>
              <a:rPr lang="en-GB" sz="1100">
                <a:solidFill>
                  <a:srgbClr val="000000"/>
                </a:solidFill>
                <a:latin typeface="Arial"/>
                <a:ea typeface="Arial"/>
                <a:cs typeface="Arial"/>
                <a:sym typeface="Arial"/>
              </a:rPr>
              <a:t> Enables prediction in data-sparse or cold-start scenarios (e.g., new users, products, or systems).</a:t>
            </a:r>
            <a:endParaRPr sz="1100">
              <a:solidFill>
                <a:srgbClr val="000000"/>
              </a:solidFill>
              <a:latin typeface="Arial"/>
              <a:ea typeface="Arial"/>
              <a:cs typeface="Arial"/>
              <a:sym typeface="Arial"/>
            </a:endParaRPr>
          </a:p>
          <a:p>
            <a:pPr indent="0" lvl="0" marL="0" rtl="0" algn="l">
              <a:spcBef>
                <a:spcPts val="1200"/>
              </a:spcBef>
              <a:spcAft>
                <a:spcPts val="0"/>
              </a:spcAft>
              <a:buNone/>
            </a:pPr>
            <a:r>
              <a:rPr b="1" lang="en-GB" sz="1100">
                <a:solidFill>
                  <a:srgbClr val="000000"/>
                </a:solidFill>
                <a:latin typeface="Arial"/>
                <a:ea typeface="Arial"/>
                <a:cs typeface="Arial"/>
                <a:sym typeface="Arial"/>
              </a:rPr>
              <a:t>Privacy Compliance:</a:t>
            </a:r>
            <a:r>
              <a:rPr lang="en-GB" sz="1100">
                <a:solidFill>
                  <a:srgbClr val="000000"/>
                </a:solidFill>
                <a:latin typeface="Arial"/>
                <a:ea typeface="Arial"/>
                <a:cs typeface="Arial"/>
                <a:sym typeface="Arial"/>
              </a:rPr>
              <a:t> Useful in domains like healthcare where past data may be inaccessible due to privacy constraints.</a:t>
            </a:r>
            <a:endParaRPr sz="1100">
              <a:solidFill>
                <a:srgbClr val="000000"/>
              </a:solidFill>
              <a:latin typeface="Arial"/>
              <a:ea typeface="Arial"/>
              <a:cs typeface="Arial"/>
              <a:sym typeface="Arial"/>
            </a:endParaRPr>
          </a:p>
          <a:p>
            <a:pPr indent="0" lvl="0" marL="0" rtl="0" algn="l">
              <a:spcBef>
                <a:spcPts val="1200"/>
              </a:spcBef>
              <a:spcAft>
                <a:spcPts val="0"/>
              </a:spcAft>
              <a:buNone/>
            </a:pPr>
            <a:r>
              <a:rPr b="1" lang="en-GB" sz="1100">
                <a:solidFill>
                  <a:srgbClr val="000000"/>
                </a:solidFill>
                <a:latin typeface="Arial"/>
                <a:ea typeface="Arial"/>
                <a:cs typeface="Arial"/>
                <a:sym typeface="Arial"/>
              </a:rPr>
              <a:t>Simulated Futures:</a:t>
            </a:r>
            <a:r>
              <a:rPr lang="en-GB" sz="1100">
                <a:solidFill>
                  <a:srgbClr val="000000"/>
                </a:solidFill>
                <a:latin typeface="Arial"/>
                <a:ea typeface="Arial"/>
                <a:cs typeface="Arial"/>
                <a:sym typeface="Arial"/>
              </a:rPr>
              <a:t> Allows autonomous systems to generate, simulate, and reason about potential event sequences without external input.</a:t>
            </a:r>
            <a:endParaRPr sz="1100">
              <a:solidFill>
                <a:srgbClr val="000000"/>
              </a:solidFill>
              <a:latin typeface="Arial"/>
              <a:ea typeface="Arial"/>
              <a:cs typeface="Arial"/>
              <a:sym typeface="Arial"/>
            </a:endParaRPr>
          </a:p>
          <a:p>
            <a:pPr indent="0" lvl="0" marL="0" rtl="0" algn="l">
              <a:spcBef>
                <a:spcPts val="1200"/>
              </a:spcBef>
              <a:spcAft>
                <a:spcPts val="0"/>
              </a:spcAft>
              <a:buNone/>
            </a:pPr>
            <a:r>
              <a:rPr b="1" lang="en-GB" sz="1100">
                <a:solidFill>
                  <a:srgbClr val="000000"/>
                </a:solidFill>
                <a:latin typeface="Arial"/>
                <a:ea typeface="Arial"/>
                <a:cs typeface="Arial"/>
                <a:sym typeface="Arial"/>
              </a:rPr>
              <a:t>Planning and Testing:</a:t>
            </a:r>
            <a:r>
              <a:rPr lang="en-GB" sz="1100">
                <a:solidFill>
                  <a:srgbClr val="000000"/>
                </a:solidFill>
                <a:latin typeface="Arial"/>
                <a:ea typeface="Arial"/>
                <a:cs typeface="Arial"/>
                <a:sym typeface="Arial"/>
              </a:rPr>
              <a:t> Facilitates system testing, decision-making, and planning under uncertainty or data scarcity.</a:t>
            </a:r>
            <a:endParaRPr sz="1100">
              <a:solidFill>
                <a:srgbClr val="000000"/>
              </a:solidFill>
              <a:latin typeface="Arial"/>
              <a:ea typeface="Arial"/>
              <a:cs typeface="Arial"/>
              <a:sym typeface="Arial"/>
            </a:endParaRPr>
          </a:p>
          <a:p>
            <a:pPr indent="0" lvl="0" marL="0" rtl="0" algn="l">
              <a:spcBef>
                <a:spcPts val="1200"/>
              </a:spcBef>
              <a:spcAft>
                <a:spcPts val="0"/>
              </a:spcAft>
              <a:buNone/>
            </a:pPr>
            <a:r>
              <a:rPr b="1" lang="en-GB" sz="1100">
                <a:solidFill>
                  <a:srgbClr val="000000"/>
                </a:solidFill>
                <a:latin typeface="Arial"/>
                <a:ea typeface="Arial"/>
                <a:cs typeface="Arial"/>
                <a:sym typeface="Arial"/>
              </a:rPr>
              <a:t>Scientific Insight:</a:t>
            </a:r>
            <a:r>
              <a:rPr lang="en-GB" sz="1100">
                <a:solidFill>
                  <a:srgbClr val="000000"/>
                </a:solidFill>
                <a:latin typeface="Arial"/>
                <a:ea typeface="Arial"/>
                <a:cs typeface="Arial"/>
                <a:sym typeface="Arial"/>
              </a:rPr>
              <a:t> Helps evaluate how much models rely on self-generated vs. real historical data</a:t>
            </a:r>
            <a:r>
              <a:rPr lang="en-GB" sz="1100">
                <a:solidFill>
                  <a:srgbClr val="000000"/>
                </a:solidFill>
                <a:latin typeface="Arial"/>
                <a:ea typeface="Arial"/>
                <a:cs typeface="Arial"/>
                <a:sym typeface="Arial"/>
              </a:rPr>
              <a:t>.</a:t>
            </a:r>
            <a:endParaRPr b="1" sz="1100">
              <a:solidFill>
                <a:srgbClr val="000000"/>
              </a:solidFill>
              <a:latin typeface="Arial"/>
              <a:ea typeface="Arial"/>
              <a:cs typeface="Arial"/>
              <a:sym typeface="Arial"/>
            </a:endParaRPr>
          </a:p>
          <a:p>
            <a:pPr indent="-228600" lvl="0" marL="457200" rtl="0" algn="l">
              <a:spcBef>
                <a:spcPts val="1200"/>
              </a:spcBef>
              <a:spcAft>
                <a:spcPts val="0"/>
              </a:spcAft>
              <a:buNone/>
            </a:pPr>
            <a:r>
              <a:rPr b="1" lang="en-GB" sz="1100">
                <a:solidFill>
                  <a:srgbClr val="000000"/>
                </a:solidFill>
                <a:latin typeface="Arial"/>
                <a:ea typeface="Arial"/>
                <a:cs typeface="Arial"/>
                <a:sym typeface="Arial"/>
              </a:rPr>
              <a:t>Research Interest:</a:t>
            </a:r>
            <a:endParaRPr b="1" sz="1100">
              <a:solidFill>
                <a:srgbClr val="000000"/>
              </a:solidFill>
              <a:latin typeface="Arial"/>
              <a:ea typeface="Arial"/>
              <a:cs typeface="Arial"/>
              <a:sym typeface="Arial"/>
            </a:endParaRPr>
          </a:p>
          <a:p>
            <a:pPr indent="-282733" lvl="0" marL="457200" rtl="0" algn="l">
              <a:spcBef>
                <a:spcPts val="1200"/>
              </a:spcBef>
              <a:spcAft>
                <a:spcPts val="0"/>
              </a:spcAft>
              <a:buClr>
                <a:srgbClr val="000000"/>
              </a:buClr>
              <a:buSzPct val="100000"/>
              <a:buFont typeface="Arial"/>
              <a:buChar char="●"/>
            </a:pPr>
            <a:r>
              <a:rPr lang="en-GB" sz="1100">
                <a:solidFill>
                  <a:srgbClr val="000000"/>
                </a:solidFill>
                <a:latin typeface="Arial"/>
                <a:ea typeface="Arial"/>
                <a:cs typeface="Arial"/>
                <a:sym typeface="Arial"/>
              </a:rPr>
              <a:t>Test model’s reliance on self-history from original data</a:t>
            </a:r>
            <a:br>
              <a:rPr lang="en-GB" sz="1100">
                <a:solidFill>
                  <a:srgbClr val="000000"/>
                </a:solidFill>
                <a:latin typeface="Arial"/>
                <a:ea typeface="Arial"/>
                <a:cs typeface="Arial"/>
                <a:sym typeface="Arial"/>
              </a:rPr>
            </a:br>
            <a:endParaRPr b="1" sz="1100">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Approach</a:t>
            </a:r>
            <a:r>
              <a:rPr lang="en-GB"/>
              <a:t> Summary</a:t>
            </a:r>
            <a:endParaRPr/>
          </a:p>
        </p:txBody>
      </p:sp>
      <p:sp>
        <p:nvSpPr>
          <p:cNvPr id="206" name="Google Shape;206;p25"/>
          <p:cNvSpPr txBox="1"/>
          <p:nvPr>
            <p:ph idx="1" type="body"/>
          </p:nvPr>
        </p:nvSpPr>
        <p:spPr>
          <a:xfrm>
            <a:off x="819150" y="1990725"/>
            <a:ext cx="7505700" cy="24480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GB" sz="1100">
                <a:solidFill>
                  <a:srgbClr val="000000"/>
                </a:solidFill>
                <a:latin typeface="Arial"/>
                <a:ea typeface="Arial"/>
                <a:cs typeface="Arial"/>
                <a:sym typeface="Arial"/>
              </a:rPr>
              <a:t>Training:</a:t>
            </a:r>
            <a:r>
              <a:rPr lang="en-GB" sz="1100">
                <a:solidFill>
                  <a:srgbClr val="000000"/>
                </a:solidFill>
                <a:latin typeface="Arial"/>
                <a:ea typeface="Arial"/>
                <a:cs typeface="Arial"/>
                <a:sym typeface="Arial"/>
              </a:rPr>
              <a:t> Standard cdiff training using full diffusion process</a:t>
            </a:r>
            <a:endParaRPr sz="1100">
              <a:solidFill>
                <a:srgbClr val="000000"/>
              </a:solidFill>
              <a:latin typeface="Arial"/>
              <a:ea typeface="Arial"/>
              <a:cs typeface="Arial"/>
              <a:sym typeface="Arial"/>
            </a:endParaRPr>
          </a:p>
          <a:p>
            <a:pPr indent="0" lvl="0" marL="0" rtl="0" algn="l">
              <a:spcBef>
                <a:spcPts val="1200"/>
              </a:spcBef>
              <a:spcAft>
                <a:spcPts val="0"/>
              </a:spcAft>
              <a:buNone/>
            </a:pPr>
            <a:r>
              <a:rPr b="1" lang="en-GB" sz="1100">
                <a:solidFill>
                  <a:srgbClr val="000000"/>
                </a:solidFill>
                <a:latin typeface="Arial"/>
                <a:ea typeface="Arial"/>
                <a:cs typeface="Arial"/>
                <a:sym typeface="Arial"/>
              </a:rPr>
              <a:t>Inference Change:</a:t>
            </a:r>
            <a:endParaRPr b="1"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GB" sz="1100">
                <a:solidFill>
                  <a:srgbClr val="000000"/>
                </a:solidFill>
                <a:latin typeface="Arial"/>
                <a:ea typeface="Arial"/>
                <a:cs typeface="Arial"/>
                <a:sym typeface="Arial"/>
              </a:rPr>
              <a:t>Generate 20 events while passing null context and then generate further 20 events using the previous 20 as history.</a:t>
            </a:r>
            <a:br>
              <a:rPr lang="en-GB"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GB" sz="1100">
                <a:solidFill>
                  <a:srgbClr val="000000"/>
                </a:solidFill>
                <a:latin typeface="Arial"/>
                <a:ea typeface="Arial"/>
                <a:cs typeface="Arial"/>
                <a:sym typeface="Arial"/>
              </a:rPr>
              <a:t>Continue the above process till the required timestamp is reached and then stop generation</a:t>
            </a:r>
            <a:endParaRPr sz="1100">
              <a:solidFill>
                <a:srgbClr val="000000"/>
              </a:solidFill>
              <a:latin typeface="Arial"/>
              <a:ea typeface="Arial"/>
              <a:cs typeface="Arial"/>
              <a:sym typeface="Arial"/>
            </a:endParaRPr>
          </a:p>
          <a:p>
            <a:pPr indent="0" lvl="0" marL="0" rtl="0" algn="l">
              <a:spcBef>
                <a:spcPts val="1200"/>
              </a:spcBef>
              <a:spcAft>
                <a:spcPts val="0"/>
              </a:spcAft>
              <a:buNone/>
            </a:pPr>
            <a:r>
              <a:rPr b="1" lang="en-GB" sz="1100">
                <a:solidFill>
                  <a:srgbClr val="000000"/>
                </a:solidFill>
                <a:latin typeface="Arial"/>
                <a:ea typeface="Arial"/>
                <a:cs typeface="Arial"/>
                <a:sym typeface="Arial"/>
              </a:rPr>
              <a:t>Evaluation:</a:t>
            </a:r>
            <a:endParaRPr b="1"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GB" sz="1100">
                <a:solidFill>
                  <a:srgbClr val="000000"/>
                </a:solidFill>
                <a:latin typeface="Arial"/>
                <a:ea typeface="Arial"/>
                <a:cs typeface="Arial"/>
                <a:sym typeface="Arial"/>
              </a:rPr>
              <a:t>Compare with original cdiff</a:t>
            </a:r>
            <a:br>
              <a:rPr lang="en-GB"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GB" sz="1100">
                <a:solidFill>
                  <a:srgbClr val="000000"/>
                </a:solidFill>
                <a:latin typeface="Arial"/>
                <a:ea typeface="Arial"/>
                <a:cs typeface="Arial"/>
                <a:sym typeface="Arial"/>
              </a:rPr>
              <a:t>Analyze performance degradation or retention</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212" name="Google Shape;212;p26"/>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13" name="Google Shape;213;p26" title="Cdiff(2).jpeg"/>
          <p:cNvPicPr preferRelativeResize="0"/>
          <p:nvPr/>
        </p:nvPicPr>
        <p:blipFill>
          <a:blip r:embed="rId3">
            <a:alphaModFix/>
          </a:blip>
          <a:stretch>
            <a:fillRect/>
          </a:stretch>
        </p:blipFill>
        <p:spPr>
          <a:xfrm>
            <a:off x="819151" y="212262"/>
            <a:ext cx="6998149" cy="471897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Implementation Details</a:t>
            </a:r>
            <a:endParaRPr/>
          </a:p>
        </p:txBody>
      </p:sp>
      <p:sp>
        <p:nvSpPr>
          <p:cNvPr id="219" name="Google Shape;219;p27"/>
          <p:cNvSpPr txBox="1"/>
          <p:nvPr>
            <p:ph idx="1" type="body"/>
          </p:nvPr>
        </p:nvSpPr>
        <p:spPr>
          <a:xfrm>
            <a:off x="819150" y="1990725"/>
            <a:ext cx="7505700" cy="24480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GB">
                <a:solidFill>
                  <a:srgbClr val="000000"/>
                </a:solidFill>
              </a:rPr>
              <a:t>Frameworks: PyTorch</a:t>
            </a:r>
            <a:endParaRPr>
              <a:solidFill>
                <a:srgbClr val="000000"/>
              </a:solidFill>
            </a:endParaRPr>
          </a:p>
          <a:p>
            <a:pPr indent="0" lvl="0" marL="0" rtl="0" algn="l">
              <a:spcBef>
                <a:spcPts val="1200"/>
              </a:spcBef>
              <a:spcAft>
                <a:spcPts val="0"/>
              </a:spcAft>
              <a:buNone/>
            </a:pPr>
            <a:r>
              <a:rPr lang="en-GB">
                <a:solidFill>
                  <a:srgbClr val="000000"/>
                </a:solidFill>
              </a:rPr>
              <a:t>Dataset used: Amazon, Synthetic Hawkes, Synthetic nonstationary renewal</a:t>
            </a:r>
            <a:endParaRPr>
              <a:solidFill>
                <a:srgbClr val="000000"/>
              </a:solidFill>
            </a:endParaRPr>
          </a:p>
          <a:p>
            <a:pPr indent="0" lvl="0" marL="0" rtl="0" algn="l">
              <a:spcBef>
                <a:spcPts val="1200"/>
              </a:spcBef>
              <a:spcAft>
                <a:spcPts val="0"/>
              </a:spcAft>
              <a:buNone/>
            </a:pPr>
            <a:r>
              <a:rPr lang="en-GB">
                <a:solidFill>
                  <a:srgbClr val="000000"/>
                </a:solidFill>
              </a:rPr>
              <a:t>Modifications:</a:t>
            </a:r>
            <a:endParaRPr>
              <a:solidFill>
                <a:srgbClr val="000000"/>
              </a:solidFill>
            </a:endParaRPr>
          </a:p>
          <a:p>
            <a:pPr indent="-298450" lvl="0" marL="457200" rtl="0" algn="l">
              <a:spcBef>
                <a:spcPts val="1200"/>
              </a:spcBef>
              <a:spcAft>
                <a:spcPts val="0"/>
              </a:spcAft>
              <a:buClr>
                <a:srgbClr val="000000"/>
              </a:buClr>
              <a:buSzPts val="1100"/>
              <a:buFont typeface="Arial"/>
              <a:buChar char="●"/>
            </a:pPr>
            <a:r>
              <a:rPr lang="en-GB">
                <a:solidFill>
                  <a:srgbClr val="000000"/>
                </a:solidFill>
              </a:rPr>
              <a:t>Passed null context initially to generate 20 events and then use the generated events as the history for the future generations</a:t>
            </a:r>
            <a:br>
              <a:rPr lang="en-GB">
                <a:solidFill>
                  <a:srgbClr val="000000"/>
                </a:solidFill>
              </a:rPr>
            </a:br>
            <a:endParaRPr>
              <a:solidFill>
                <a:srgbClr val="000000"/>
              </a:solidFill>
            </a:endParaRPr>
          </a:p>
          <a:p>
            <a:pPr indent="-298450" lvl="0" marL="457200" rtl="0" algn="l">
              <a:spcBef>
                <a:spcPts val="0"/>
              </a:spcBef>
              <a:spcAft>
                <a:spcPts val="0"/>
              </a:spcAft>
              <a:buClr>
                <a:srgbClr val="000000"/>
              </a:buClr>
              <a:buSzPts val="1100"/>
              <a:buFont typeface="Arial"/>
              <a:buChar char="●"/>
            </a:pPr>
            <a:r>
              <a:rPr lang="en-GB">
                <a:solidFill>
                  <a:srgbClr val="000000"/>
                </a:solidFill>
              </a:rPr>
              <a:t>Retained inter-sequence noise coupling</a:t>
            </a:r>
            <a:endParaRPr>
              <a:solidFill>
                <a:srgbClr val="000000"/>
              </a:solidFill>
            </a:endParaRPr>
          </a:p>
          <a:p>
            <a:pPr indent="0" lvl="0" marL="0" rtl="0" algn="l">
              <a:spcBef>
                <a:spcPts val="1200"/>
              </a:spcBef>
              <a:spcAft>
                <a:spcPts val="0"/>
              </a:spcAft>
              <a:buNone/>
            </a:pPr>
            <a:r>
              <a:rPr lang="en-GB">
                <a:solidFill>
                  <a:srgbClr val="000000"/>
                </a:solidFill>
              </a:rPr>
              <a:t>Training unchanged from base paper</a:t>
            </a:r>
            <a:endParaRPr>
              <a:solidFill>
                <a:srgbClr val="000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8"/>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Experimental Setup</a:t>
            </a:r>
            <a:endParaRPr/>
          </a:p>
        </p:txBody>
      </p:sp>
      <p:sp>
        <p:nvSpPr>
          <p:cNvPr id="225" name="Google Shape;225;p28"/>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Baselines: IFL-TPP</a:t>
            </a:r>
            <a:endParaRPr/>
          </a:p>
          <a:p>
            <a:pPr indent="0" lvl="0" marL="0" rtl="0" algn="l">
              <a:spcBef>
                <a:spcPts val="1200"/>
              </a:spcBef>
              <a:spcAft>
                <a:spcPts val="0"/>
              </a:spcAft>
              <a:buNone/>
            </a:pPr>
            <a:r>
              <a:rPr lang="en-GB"/>
              <a:t>Ours : Cdiff (base) + Null Context</a:t>
            </a:r>
            <a:endParaRPr/>
          </a:p>
          <a:p>
            <a:pPr indent="0" lvl="0" marL="0" rtl="0" algn="l">
              <a:spcBef>
                <a:spcPts val="1200"/>
              </a:spcBef>
              <a:spcAft>
                <a:spcPts val="0"/>
              </a:spcAft>
              <a:buNone/>
            </a:pPr>
            <a:r>
              <a:rPr lang="en-GB"/>
              <a:t>Metrics: MMD and Wasserstein</a:t>
            </a:r>
            <a:endParaRPr/>
          </a:p>
          <a:p>
            <a:pPr indent="0" lvl="0" marL="0" rtl="0" algn="l">
              <a:spcBef>
                <a:spcPts val="1200"/>
              </a:spcBef>
              <a:spcAft>
                <a:spcPts val="1200"/>
              </a:spcAft>
              <a:buNone/>
            </a:pPr>
            <a:r>
              <a:rPr lang="en-GB"/>
              <a:t>Evaluation: Same split and setup as in original paper</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9"/>
          <p:cNvSpPr txBox="1"/>
          <p:nvPr>
            <p:ph type="title"/>
          </p:nvPr>
        </p:nvSpPr>
        <p:spPr>
          <a:xfrm>
            <a:off x="460150" y="3485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Synthetic Hawkes (CDiff vs IFL-TPP)</a:t>
            </a:r>
            <a:endParaRPr/>
          </a:p>
        </p:txBody>
      </p:sp>
      <p:sp>
        <p:nvSpPr>
          <p:cNvPr id="231" name="Google Shape;231;p29"/>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32" name="Google Shape;232;p29"/>
          <p:cNvPicPr preferRelativeResize="0"/>
          <p:nvPr/>
        </p:nvPicPr>
        <p:blipFill>
          <a:blip r:embed="rId3">
            <a:alphaModFix/>
          </a:blip>
          <a:stretch>
            <a:fillRect/>
          </a:stretch>
        </p:blipFill>
        <p:spPr>
          <a:xfrm>
            <a:off x="4397050" y="1572350"/>
            <a:ext cx="4379562" cy="2733475"/>
          </a:xfrm>
          <a:prstGeom prst="rect">
            <a:avLst/>
          </a:prstGeom>
          <a:noFill/>
          <a:ln>
            <a:noFill/>
          </a:ln>
        </p:spPr>
      </p:pic>
      <p:pic>
        <p:nvPicPr>
          <p:cNvPr id="233" name="Google Shape;233;p29"/>
          <p:cNvPicPr preferRelativeResize="0"/>
          <p:nvPr/>
        </p:nvPicPr>
        <p:blipFill>
          <a:blip r:embed="rId4">
            <a:alphaModFix/>
          </a:blip>
          <a:stretch>
            <a:fillRect/>
          </a:stretch>
        </p:blipFill>
        <p:spPr>
          <a:xfrm>
            <a:off x="428050" y="1572350"/>
            <a:ext cx="3845550" cy="267989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0"/>
          <p:cNvSpPr txBox="1"/>
          <p:nvPr>
            <p:ph type="title"/>
          </p:nvPr>
        </p:nvSpPr>
        <p:spPr>
          <a:xfrm>
            <a:off x="819150" y="7694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Nonstationary Poisson (CDiff vs IFL-TPP)</a:t>
            </a:r>
            <a:endParaRPr/>
          </a:p>
        </p:txBody>
      </p:sp>
      <p:sp>
        <p:nvSpPr>
          <p:cNvPr id="239" name="Google Shape;239;p30"/>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40" name="Google Shape;240;p30"/>
          <p:cNvPicPr preferRelativeResize="0"/>
          <p:nvPr/>
        </p:nvPicPr>
        <p:blipFill>
          <a:blip r:embed="rId3">
            <a:alphaModFix/>
          </a:blip>
          <a:stretch>
            <a:fillRect/>
          </a:stretch>
        </p:blipFill>
        <p:spPr>
          <a:xfrm>
            <a:off x="402645" y="1800200"/>
            <a:ext cx="4043875" cy="2758525"/>
          </a:xfrm>
          <a:prstGeom prst="rect">
            <a:avLst/>
          </a:prstGeom>
          <a:noFill/>
          <a:ln>
            <a:noFill/>
          </a:ln>
        </p:spPr>
      </p:pic>
      <p:pic>
        <p:nvPicPr>
          <p:cNvPr id="241" name="Google Shape;241;p30"/>
          <p:cNvPicPr preferRelativeResize="0"/>
          <p:nvPr/>
        </p:nvPicPr>
        <p:blipFill>
          <a:blip r:embed="rId4">
            <a:alphaModFix/>
          </a:blip>
          <a:stretch>
            <a:fillRect/>
          </a:stretch>
        </p:blipFill>
        <p:spPr>
          <a:xfrm>
            <a:off x="4509875" y="1800200"/>
            <a:ext cx="4346875" cy="24941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1"/>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Non Stationary Renewal (CDiff vs IFL-TPP)</a:t>
            </a:r>
            <a:endParaRPr/>
          </a:p>
        </p:txBody>
      </p:sp>
      <p:sp>
        <p:nvSpPr>
          <p:cNvPr id="247" name="Google Shape;247;p31"/>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48" name="Google Shape;248;p31"/>
          <p:cNvPicPr preferRelativeResize="0"/>
          <p:nvPr/>
        </p:nvPicPr>
        <p:blipFill>
          <a:blip r:embed="rId3">
            <a:alphaModFix/>
          </a:blip>
          <a:stretch>
            <a:fillRect/>
          </a:stretch>
        </p:blipFill>
        <p:spPr>
          <a:xfrm>
            <a:off x="516670" y="1830075"/>
            <a:ext cx="3759451" cy="2587025"/>
          </a:xfrm>
          <a:prstGeom prst="rect">
            <a:avLst/>
          </a:prstGeom>
          <a:noFill/>
          <a:ln>
            <a:noFill/>
          </a:ln>
        </p:spPr>
      </p:pic>
      <p:pic>
        <p:nvPicPr>
          <p:cNvPr id="249" name="Google Shape;249;p31"/>
          <p:cNvPicPr preferRelativeResize="0"/>
          <p:nvPr/>
        </p:nvPicPr>
        <p:blipFill>
          <a:blip r:embed="rId4">
            <a:alphaModFix/>
          </a:blip>
          <a:stretch>
            <a:fillRect/>
          </a:stretch>
        </p:blipFill>
        <p:spPr>
          <a:xfrm>
            <a:off x="4328075" y="1830075"/>
            <a:ext cx="4438350" cy="25401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2"/>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Amazon (CDiff vs IFL-TPP)</a:t>
            </a:r>
            <a:endParaRPr/>
          </a:p>
        </p:txBody>
      </p:sp>
      <p:sp>
        <p:nvSpPr>
          <p:cNvPr id="255" name="Google Shape;255;p32"/>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56" name="Google Shape;256;p32"/>
          <p:cNvPicPr preferRelativeResize="0"/>
          <p:nvPr/>
        </p:nvPicPr>
        <p:blipFill>
          <a:blip r:embed="rId3">
            <a:alphaModFix/>
          </a:blip>
          <a:stretch>
            <a:fillRect/>
          </a:stretch>
        </p:blipFill>
        <p:spPr>
          <a:xfrm>
            <a:off x="1092375" y="1834452"/>
            <a:ext cx="3267075" cy="2347898"/>
          </a:xfrm>
          <a:prstGeom prst="rect">
            <a:avLst/>
          </a:prstGeom>
          <a:noFill/>
          <a:ln>
            <a:noFill/>
          </a:ln>
        </p:spPr>
      </p:pic>
      <p:pic>
        <p:nvPicPr>
          <p:cNvPr id="257" name="Google Shape;257;p32"/>
          <p:cNvPicPr preferRelativeResize="0"/>
          <p:nvPr/>
        </p:nvPicPr>
        <p:blipFill>
          <a:blip r:embed="rId4">
            <a:alphaModFix/>
          </a:blip>
          <a:stretch>
            <a:fillRect/>
          </a:stretch>
        </p:blipFill>
        <p:spPr>
          <a:xfrm>
            <a:off x="4571994" y="1800199"/>
            <a:ext cx="3427250" cy="231022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3"/>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Distribution of Sequence Lengths in retweet and taxi dataset using cdiff</a:t>
            </a:r>
            <a:endParaRPr/>
          </a:p>
        </p:txBody>
      </p:sp>
      <p:sp>
        <p:nvSpPr>
          <p:cNvPr id="263" name="Google Shape;263;p33"/>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64" name="Google Shape;264;p33"/>
          <p:cNvPicPr preferRelativeResize="0"/>
          <p:nvPr/>
        </p:nvPicPr>
        <p:blipFill>
          <a:blip r:embed="rId3">
            <a:alphaModFix/>
          </a:blip>
          <a:stretch>
            <a:fillRect/>
          </a:stretch>
        </p:blipFill>
        <p:spPr>
          <a:xfrm>
            <a:off x="728676" y="1990725"/>
            <a:ext cx="3634674" cy="2632200"/>
          </a:xfrm>
          <a:prstGeom prst="rect">
            <a:avLst/>
          </a:prstGeom>
          <a:noFill/>
          <a:ln>
            <a:noFill/>
          </a:ln>
        </p:spPr>
      </p:pic>
      <p:pic>
        <p:nvPicPr>
          <p:cNvPr id="265" name="Google Shape;265;p33"/>
          <p:cNvPicPr preferRelativeResize="0"/>
          <p:nvPr/>
        </p:nvPicPr>
        <p:blipFill>
          <a:blip r:embed="rId4">
            <a:alphaModFix/>
          </a:blip>
          <a:stretch>
            <a:fillRect/>
          </a:stretch>
        </p:blipFill>
        <p:spPr>
          <a:xfrm>
            <a:off x="5026125" y="1970050"/>
            <a:ext cx="3426275" cy="25560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4"/>
          <p:cNvSpPr txBox="1"/>
          <p:nvPr>
            <p:ph type="title"/>
          </p:nvPr>
        </p:nvSpPr>
        <p:spPr>
          <a:xfrm>
            <a:off x="480850" y="286375"/>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Type Distribution for datasets</a:t>
            </a:r>
            <a:endParaRPr/>
          </a:p>
        </p:txBody>
      </p:sp>
      <p:sp>
        <p:nvSpPr>
          <p:cNvPr id="271" name="Google Shape;271;p3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72" name="Google Shape;272;p34"/>
          <p:cNvPicPr preferRelativeResize="0"/>
          <p:nvPr/>
        </p:nvPicPr>
        <p:blipFill>
          <a:blip r:embed="rId3">
            <a:alphaModFix/>
          </a:blip>
          <a:stretch>
            <a:fillRect/>
          </a:stretch>
        </p:blipFill>
        <p:spPr>
          <a:xfrm>
            <a:off x="378575" y="828475"/>
            <a:ext cx="4143549" cy="2056100"/>
          </a:xfrm>
          <a:prstGeom prst="rect">
            <a:avLst/>
          </a:prstGeom>
          <a:noFill/>
          <a:ln>
            <a:noFill/>
          </a:ln>
        </p:spPr>
      </p:pic>
      <p:pic>
        <p:nvPicPr>
          <p:cNvPr id="273" name="Google Shape;273;p34"/>
          <p:cNvPicPr preferRelativeResize="0"/>
          <p:nvPr/>
        </p:nvPicPr>
        <p:blipFill>
          <a:blip r:embed="rId4">
            <a:alphaModFix/>
          </a:blip>
          <a:stretch>
            <a:fillRect/>
          </a:stretch>
        </p:blipFill>
        <p:spPr>
          <a:xfrm>
            <a:off x="601200" y="2884575"/>
            <a:ext cx="3920924" cy="1945624"/>
          </a:xfrm>
          <a:prstGeom prst="rect">
            <a:avLst/>
          </a:prstGeom>
          <a:noFill/>
          <a:ln>
            <a:noFill/>
          </a:ln>
        </p:spPr>
      </p:pic>
      <p:pic>
        <p:nvPicPr>
          <p:cNvPr id="274" name="Google Shape;274;p34"/>
          <p:cNvPicPr preferRelativeResize="0"/>
          <p:nvPr/>
        </p:nvPicPr>
        <p:blipFill>
          <a:blip r:embed="rId5">
            <a:alphaModFix/>
          </a:blip>
          <a:stretch>
            <a:fillRect/>
          </a:stretch>
        </p:blipFill>
        <p:spPr>
          <a:xfrm>
            <a:off x="4786325" y="2803025"/>
            <a:ext cx="4020624" cy="1995100"/>
          </a:xfrm>
          <a:prstGeom prst="rect">
            <a:avLst/>
          </a:prstGeom>
          <a:noFill/>
          <a:ln>
            <a:noFill/>
          </a:ln>
        </p:spPr>
      </p:pic>
      <p:pic>
        <p:nvPicPr>
          <p:cNvPr id="275" name="Google Shape;275;p34"/>
          <p:cNvPicPr preferRelativeResize="0"/>
          <p:nvPr/>
        </p:nvPicPr>
        <p:blipFill>
          <a:blip r:embed="rId6">
            <a:alphaModFix/>
          </a:blip>
          <a:stretch>
            <a:fillRect/>
          </a:stretch>
        </p:blipFill>
        <p:spPr>
          <a:xfrm>
            <a:off x="4663275" y="828463"/>
            <a:ext cx="3920924" cy="19456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Metrics Used</a:t>
            </a:r>
            <a:endParaRPr/>
          </a:p>
        </p:txBody>
      </p:sp>
      <p:sp>
        <p:nvSpPr>
          <p:cNvPr id="281" name="Google Shape;281;p35"/>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GB" sz="1100">
                <a:solidFill>
                  <a:srgbClr val="000000"/>
                </a:solidFill>
                <a:latin typeface="Arial"/>
                <a:ea typeface="Arial"/>
                <a:cs typeface="Arial"/>
                <a:sym typeface="Arial"/>
              </a:rPr>
              <a:t>Wasserstein Distance</a:t>
            </a:r>
            <a:r>
              <a:rPr lang="en-GB" sz="1100">
                <a:solidFill>
                  <a:srgbClr val="000000"/>
                </a:solidFill>
                <a:latin typeface="Arial"/>
                <a:ea typeface="Arial"/>
                <a:cs typeface="Arial"/>
                <a:sym typeface="Arial"/>
              </a:rPr>
              <a:t>:</a:t>
            </a:r>
            <a:br>
              <a:rPr lang="en-GB" sz="1100">
                <a:solidFill>
                  <a:srgbClr val="000000"/>
                </a:solidFill>
                <a:latin typeface="Arial"/>
                <a:ea typeface="Arial"/>
                <a:cs typeface="Arial"/>
                <a:sym typeface="Arial"/>
              </a:rPr>
            </a:br>
            <a:r>
              <a:rPr lang="en-GB" sz="1100">
                <a:solidFill>
                  <a:srgbClr val="000000"/>
                </a:solidFill>
                <a:latin typeface="Arial"/>
                <a:ea typeface="Arial"/>
                <a:cs typeface="Arial"/>
                <a:sym typeface="Arial"/>
              </a:rPr>
              <a:t>The Wasserstein distance (also known as Earth Mover's Distance) measures the minimum "cost" of transforming one probability distribution into another. It reflects how much mass must be moved and how far to make the distributions match, providing a meaningful comparison between distributions with possibly non-overlapping support.</a:t>
            </a:r>
            <a:endParaRPr sz="1100">
              <a:solidFill>
                <a:srgbClr val="000000"/>
              </a:solidFill>
              <a:latin typeface="Arial"/>
              <a:ea typeface="Arial"/>
              <a:cs typeface="Arial"/>
              <a:sym typeface="Arial"/>
            </a:endParaRPr>
          </a:p>
          <a:p>
            <a:pPr indent="0" lvl="0" marL="0" rtl="0" algn="l">
              <a:spcBef>
                <a:spcPts val="1200"/>
              </a:spcBef>
              <a:spcAft>
                <a:spcPts val="0"/>
              </a:spcAft>
              <a:buNone/>
            </a:pPr>
            <a:r>
              <a:t/>
            </a:r>
            <a:endParaRPr sz="1100">
              <a:solidFill>
                <a:srgbClr val="000000"/>
              </a:solidFill>
              <a:latin typeface="Arial"/>
              <a:ea typeface="Arial"/>
              <a:cs typeface="Arial"/>
              <a:sym typeface="Arial"/>
            </a:endParaRPr>
          </a:p>
          <a:p>
            <a:pPr indent="0" lvl="0" marL="0" rtl="0" algn="l">
              <a:spcBef>
                <a:spcPts val="1200"/>
              </a:spcBef>
              <a:spcAft>
                <a:spcPts val="1200"/>
              </a:spcAft>
              <a:buNone/>
            </a:pPr>
            <a:r>
              <a:rPr b="1" lang="en-GB" sz="1100">
                <a:solidFill>
                  <a:srgbClr val="000000"/>
                </a:solidFill>
                <a:latin typeface="Arial"/>
                <a:ea typeface="Arial"/>
                <a:cs typeface="Arial"/>
                <a:sym typeface="Arial"/>
              </a:rPr>
              <a:t>Maximum Mean Discrepancy (MMD)</a:t>
            </a:r>
            <a:r>
              <a:rPr lang="en-GB" sz="1100">
                <a:solidFill>
                  <a:srgbClr val="000000"/>
                </a:solidFill>
                <a:latin typeface="Arial"/>
                <a:ea typeface="Arial"/>
                <a:cs typeface="Arial"/>
                <a:sym typeface="Arial"/>
              </a:rPr>
              <a:t>:</a:t>
            </a:r>
            <a:br>
              <a:rPr lang="en-GB" sz="1100">
                <a:solidFill>
                  <a:srgbClr val="000000"/>
                </a:solidFill>
                <a:latin typeface="Arial"/>
                <a:ea typeface="Arial"/>
                <a:cs typeface="Arial"/>
                <a:sym typeface="Arial"/>
              </a:rPr>
            </a:br>
            <a:r>
              <a:rPr lang="en-GB" sz="1100">
                <a:solidFill>
                  <a:srgbClr val="000000"/>
                </a:solidFill>
                <a:latin typeface="Arial"/>
                <a:ea typeface="Arial"/>
                <a:cs typeface="Arial"/>
                <a:sym typeface="Arial"/>
              </a:rPr>
              <a:t> MMD is a non-parametric metric that measures the distance between two probability distributions based on the difference of their mean embeddings in a Reproducing Kernel Hilbert Space (RKHS). It evaluates whether two samples are drawn from the same distribution using kernel-based methods.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Results</a:t>
            </a:r>
            <a:endParaRPr/>
          </a:p>
        </p:txBody>
      </p:sp>
      <p:graphicFrame>
        <p:nvGraphicFramePr>
          <p:cNvPr id="287" name="Google Shape;287;p36"/>
          <p:cNvGraphicFramePr/>
          <p:nvPr/>
        </p:nvGraphicFramePr>
        <p:xfrm>
          <a:off x="917950" y="1657175"/>
          <a:ext cx="3000000" cy="3000000"/>
        </p:xfrm>
        <a:graphic>
          <a:graphicData uri="http://schemas.openxmlformats.org/drawingml/2006/table">
            <a:tbl>
              <a:tblPr>
                <a:noFill/>
                <a:tableStyleId>{3F39375D-C9FD-481D-8582-E38D817CDE3A}</a:tableStyleId>
              </a:tblPr>
              <a:tblGrid>
                <a:gridCol w="2185175"/>
                <a:gridCol w="2185175"/>
                <a:gridCol w="2185175"/>
              </a:tblGrid>
              <a:tr h="100000">
                <a:tc>
                  <a:txBody>
                    <a:bodyPr/>
                    <a:lstStyle/>
                    <a:p>
                      <a:pPr indent="0" lvl="0" marL="0" rtl="0" algn="l">
                        <a:spcBef>
                          <a:spcPts val="0"/>
                        </a:spcBef>
                        <a:spcAft>
                          <a:spcPts val="0"/>
                        </a:spcAft>
                        <a:buNone/>
                      </a:pPr>
                      <a:r>
                        <a:rPr b="1" lang="en-GB" sz="1000"/>
                        <a:t>Dataset</a:t>
                      </a:r>
                      <a:endParaRPr b="1" sz="1000"/>
                    </a:p>
                  </a:txBody>
                  <a:tcPr marT="91425" marB="91425" marR="91425" marL="91425"/>
                </a:tc>
                <a:tc>
                  <a:txBody>
                    <a:bodyPr/>
                    <a:lstStyle/>
                    <a:p>
                      <a:pPr indent="0" lvl="0" marL="0" rtl="0" algn="l">
                        <a:spcBef>
                          <a:spcPts val="0"/>
                        </a:spcBef>
                        <a:spcAft>
                          <a:spcPts val="0"/>
                        </a:spcAft>
                        <a:buNone/>
                      </a:pPr>
                      <a:r>
                        <a:rPr b="1" lang="en-GB" sz="1000"/>
                        <a:t>MMD</a:t>
                      </a:r>
                      <a:endParaRPr b="1" sz="1000"/>
                    </a:p>
                  </a:txBody>
                  <a:tcPr marT="91425" marB="91425" marR="91425" marL="91425"/>
                </a:tc>
                <a:tc>
                  <a:txBody>
                    <a:bodyPr/>
                    <a:lstStyle/>
                    <a:p>
                      <a:pPr indent="0" lvl="0" marL="0" rtl="0" algn="l">
                        <a:spcBef>
                          <a:spcPts val="0"/>
                        </a:spcBef>
                        <a:spcAft>
                          <a:spcPts val="0"/>
                        </a:spcAft>
                        <a:buNone/>
                      </a:pPr>
                      <a:r>
                        <a:rPr b="1" lang="en-GB" sz="1000"/>
                        <a:t>Wasserstein Distance</a:t>
                      </a:r>
                      <a:endParaRPr b="1" sz="1000"/>
                    </a:p>
                  </a:txBody>
                  <a:tcPr marT="91425" marB="91425" marR="91425" marL="91425"/>
                </a:tc>
              </a:tr>
              <a:tr h="331725">
                <a:tc>
                  <a:txBody>
                    <a:bodyPr/>
                    <a:lstStyle/>
                    <a:p>
                      <a:pPr indent="0" lvl="0" marL="0" rtl="0" algn="l">
                        <a:spcBef>
                          <a:spcPts val="0"/>
                        </a:spcBef>
                        <a:spcAft>
                          <a:spcPts val="0"/>
                        </a:spcAft>
                        <a:buNone/>
                      </a:pPr>
                      <a:r>
                        <a:rPr lang="en-GB" sz="1000"/>
                        <a:t>Synthetic Hawkes (CDiff)</a:t>
                      </a:r>
                      <a:endParaRPr sz="1000"/>
                    </a:p>
                  </a:txBody>
                  <a:tcPr marT="91425" marB="91425" marR="91425" marL="91425"/>
                </a:tc>
                <a:tc>
                  <a:txBody>
                    <a:bodyPr/>
                    <a:lstStyle/>
                    <a:p>
                      <a:pPr indent="0" lvl="0" marL="0" rtl="0" algn="l">
                        <a:spcBef>
                          <a:spcPts val="0"/>
                        </a:spcBef>
                        <a:spcAft>
                          <a:spcPts val="0"/>
                        </a:spcAft>
                        <a:buNone/>
                      </a:pPr>
                      <a:r>
                        <a:rPr b="1" lang="en-GB" sz="1000">
                          <a:solidFill>
                            <a:srgbClr val="FF0000"/>
                          </a:solidFill>
                          <a:latin typeface="Courier New"/>
                          <a:ea typeface="Courier New"/>
                          <a:cs typeface="Courier New"/>
                          <a:sym typeface="Courier New"/>
                        </a:rPr>
                        <a:t>0.03133243509383179</a:t>
                      </a:r>
                      <a:endParaRPr b="1" sz="1000">
                        <a:solidFill>
                          <a:srgbClr val="FF0000"/>
                        </a:solidFill>
                      </a:endParaRPr>
                    </a:p>
                  </a:txBody>
                  <a:tcPr marT="91425" marB="91425" marR="91425" marL="91425"/>
                </a:tc>
                <a:tc>
                  <a:txBody>
                    <a:bodyPr/>
                    <a:lstStyle/>
                    <a:p>
                      <a:pPr indent="0" lvl="0" marL="0" rtl="0" algn="l">
                        <a:spcBef>
                          <a:spcPts val="0"/>
                        </a:spcBef>
                        <a:spcAft>
                          <a:spcPts val="0"/>
                        </a:spcAft>
                        <a:buNone/>
                      </a:pPr>
                      <a:r>
                        <a:rPr lang="en-GB" sz="1000">
                          <a:latin typeface="Courier New"/>
                          <a:ea typeface="Courier New"/>
                          <a:cs typeface="Courier New"/>
                          <a:sym typeface="Courier New"/>
                        </a:rPr>
                        <a:t>0.25039621092684916</a:t>
                      </a:r>
                      <a:endParaRPr sz="1000"/>
                    </a:p>
                  </a:txBody>
                  <a:tcPr marT="91425" marB="91425" marR="91425" marL="91425"/>
                </a:tc>
              </a:tr>
              <a:tr h="331725">
                <a:tc>
                  <a:txBody>
                    <a:bodyPr/>
                    <a:lstStyle/>
                    <a:p>
                      <a:pPr indent="0" lvl="0" marL="0" rtl="0" algn="l">
                        <a:spcBef>
                          <a:spcPts val="0"/>
                        </a:spcBef>
                        <a:spcAft>
                          <a:spcPts val="0"/>
                        </a:spcAft>
                        <a:buNone/>
                      </a:pPr>
                      <a:r>
                        <a:rPr lang="en-GB" sz="1000"/>
                        <a:t>Synthetic Hawkes (IFL-TPP)</a:t>
                      </a:r>
                      <a:endParaRPr sz="1000"/>
                    </a:p>
                  </a:txBody>
                  <a:tcPr marT="91425" marB="91425" marR="91425" marL="91425">
                    <a:lnB cap="flat" cmpd="sng" w="285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GB" sz="1000">
                          <a:latin typeface="Courier New"/>
                          <a:ea typeface="Courier New"/>
                          <a:cs typeface="Courier New"/>
                          <a:sym typeface="Courier New"/>
                        </a:rPr>
                        <a:t>1.1422685152725158</a:t>
                      </a:r>
                      <a:endParaRPr sz="1000"/>
                    </a:p>
                  </a:txBody>
                  <a:tcPr marT="91425" marB="91425" marR="91425" marL="91425">
                    <a:lnB cap="flat" cmpd="sng" w="2857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GB" sz="1050">
                          <a:solidFill>
                            <a:srgbClr val="FF0000"/>
                          </a:solidFill>
                          <a:latin typeface="Courier New"/>
                          <a:ea typeface="Courier New"/>
                          <a:cs typeface="Courier New"/>
                          <a:sym typeface="Courier New"/>
                        </a:rPr>
                        <a:t>0.11593224945432823</a:t>
                      </a:r>
                      <a:endParaRPr b="1" sz="1000">
                        <a:solidFill>
                          <a:srgbClr val="FF0000"/>
                        </a:solidFill>
                      </a:endParaRPr>
                    </a:p>
                  </a:txBody>
                  <a:tcPr marT="91425" marB="91425" marR="91425" marL="91425">
                    <a:lnB cap="flat" cmpd="sng" w="28575">
                      <a:solidFill>
                        <a:srgbClr val="000000"/>
                      </a:solidFill>
                      <a:prstDash val="solid"/>
                      <a:round/>
                      <a:headEnd len="sm" w="sm" type="none"/>
                      <a:tailEnd len="sm" w="sm" type="none"/>
                    </a:lnB>
                  </a:tcPr>
                </a:tc>
              </a:tr>
              <a:tr h="319000">
                <a:tc>
                  <a:txBody>
                    <a:bodyPr/>
                    <a:lstStyle/>
                    <a:p>
                      <a:pPr indent="0" lvl="0" marL="0" rtl="0" algn="l">
                        <a:spcBef>
                          <a:spcPts val="0"/>
                        </a:spcBef>
                        <a:spcAft>
                          <a:spcPts val="0"/>
                        </a:spcAft>
                        <a:buNone/>
                      </a:pPr>
                      <a:r>
                        <a:rPr lang="en-GB" sz="1000"/>
                        <a:t>Amazon (CDiff)</a:t>
                      </a:r>
                      <a:endParaRPr sz="1000"/>
                    </a:p>
                  </a:txBody>
                  <a:tcPr marT="91425" marB="91425" marR="91425" marL="91425">
                    <a:lnT cap="flat" cmpd="sng" w="28575">
                      <a:solidFill>
                        <a:srgbClr val="000000"/>
                      </a:solidFill>
                      <a:prstDash val="solid"/>
                      <a:round/>
                      <a:headEnd len="sm" w="sm" type="none"/>
                      <a:tailEnd len="sm" w="sm" type="none"/>
                    </a:lnT>
                  </a:tcPr>
                </a:tc>
                <a:tc>
                  <a:txBody>
                    <a:bodyPr/>
                    <a:lstStyle/>
                    <a:p>
                      <a:pPr indent="0" lvl="0" marL="0" rtl="0" algn="l">
                        <a:spcBef>
                          <a:spcPts val="0"/>
                        </a:spcBef>
                        <a:spcAft>
                          <a:spcPts val="0"/>
                        </a:spcAft>
                        <a:buNone/>
                      </a:pPr>
                      <a:r>
                        <a:rPr lang="en-GB" sz="1000">
                          <a:latin typeface="Courier New"/>
                          <a:ea typeface="Courier New"/>
                          <a:cs typeface="Courier New"/>
                          <a:sym typeface="Courier New"/>
                        </a:rPr>
                        <a:t>0.46537791164098413</a:t>
                      </a:r>
                      <a:endParaRPr sz="1000"/>
                    </a:p>
                  </a:txBody>
                  <a:tcPr marT="91425" marB="91425" marR="91425" marL="91425">
                    <a:lnT cap="flat" cmpd="sng" w="28575">
                      <a:solidFill>
                        <a:srgbClr val="000000"/>
                      </a:solidFill>
                      <a:prstDash val="solid"/>
                      <a:round/>
                      <a:headEnd len="sm" w="sm" type="none"/>
                      <a:tailEnd len="sm" w="sm" type="none"/>
                    </a:lnT>
                  </a:tcPr>
                </a:tc>
                <a:tc>
                  <a:txBody>
                    <a:bodyPr/>
                    <a:lstStyle/>
                    <a:p>
                      <a:pPr indent="0" lvl="0" marL="0" rtl="0" algn="l">
                        <a:spcBef>
                          <a:spcPts val="0"/>
                        </a:spcBef>
                        <a:spcAft>
                          <a:spcPts val="0"/>
                        </a:spcAft>
                        <a:buNone/>
                      </a:pPr>
                      <a:r>
                        <a:rPr lang="en-GB" sz="1000">
                          <a:latin typeface="Courier New"/>
                          <a:ea typeface="Courier New"/>
                          <a:cs typeface="Courier New"/>
                          <a:sym typeface="Courier New"/>
                        </a:rPr>
                        <a:t>1.8372397622250072</a:t>
                      </a:r>
                      <a:endParaRPr sz="1000"/>
                    </a:p>
                  </a:txBody>
                  <a:tcPr marT="91425" marB="91425" marR="91425" marL="91425">
                    <a:lnT cap="flat" cmpd="sng" w="28575">
                      <a:solidFill>
                        <a:srgbClr val="000000"/>
                      </a:solidFill>
                      <a:prstDash val="solid"/>
                      <a:round/>
                      <a:headEnd len="sm" w="sm" type="none"/>
                      <a:tailEnd len="sm" w="sm" type="none"/>
                    </a:lnT>
                  </a:tcPr>
                </a:tc>
              </a:tr>
              <a:tr h="319000">
                <a:tc>
                  <a:txBody>
                    <a:bodyPr/>
                    <a:lstStyle/>
                    <a:p>
                      <a:pPr indent="0" lvl="0" marL="0" rtl="0" algn="l">
                        <a:spcBef>
                          <a:spcPts val="0"/>
                        </a:spcBef>
                        <a:spcAft>
                          <a:spcPts val="0"/>
                        </a:spcAft>
                        <a:buNone/>
                      </a:pPr>
                      <a:r>
                        <a:rPr lang="en-GB" sz="1000"/>
                        <a:t>Amazon(IFL-TPP)</a:t>
                      </a:r>
                      <a:endParaRPr sz="1000"/>
                    </a:p>
                  </a:txBody>
                  <a:tcPr marT="91425" marB="91425" marR="91425" marL="91425">
                    <a:lnB cap="flat" cmpd="sng" w="381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GB" sz="1050">
                          <a:solidFill>
                            <a:srgbClr val="FF0000"/>
                          </a:solidFill>
                          <a:latin typeface="Courier New"/>
                          <a:ea typeface="Courier New"/>
                          <a:cs typeface="Courier New"/>
                          <a:sym typeface="Courier New"/>
                        </a:rPr>
                        <a:t>0.41713565773478084</a:t>
                      </a:r>
                      <a:endParaRPr b="1" sz="1000">
                        <a:solidFill>
                          <a:srgbClr val="FF0000"/>
                        </a:solidFill>
                        <a:latin typeface="Courier New"/>
                        <a:ea typeface="Courier New"/>
                        <a:cs typeface="Courier New"/>
                        <a:sym typeface="Courier New"/>
                      </a:endParaRPr>
                    </a:p>
                  </a:txBody>
                  <a:tcPr marT="91425" marB="91425" marR="91425" marL="91425">
                    <a:lnB cap="flat" cmpd="sng" w="381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GB" sz="1050">
                          <a:solidFill>
                            <a:srgbClr val="FF0000"/>
                          </a:solidFill>
                          <a:latin typeface="Courier New"/>
                          <a:ea typeface="Courier New"/>
                          <a:cs typeface="Courier New"/>
                          <a:sym typeface="Courier New"/>
                        </a:rPr>
                        <a:t>1.4172917884204344</a:t>
                      </a:r>
                      <a:endParaRPr b="1" sz="1000">
                        <a:solidFill>
                          <a:srgbClr val="FF0000"/>
                        </a:solidFill>
                        <a:latin typeface="Courier New"/>
                        <a:ea typeface="Courier New"/>
                        <a:cs typeface="Courier New"/>
                        <a:sym typeface="Courier New"/>
                      </a:endParaRPr>
                    </a:p>
                  </a:txBody>
                  <a:tcPr marT="91425" marB="91425" marR="91425" marL="91425">
                    <a:lnB cap="flat" cmpd="sng" w="38100">
                      <a:solidFill>
                        <a:srgbClr val="000000"/>
                      </a:solidFill>
                      <a:prstDash val="solid"/>
                      <a:round/>
                      <a:headEnd len="sm" w="sm" type="none"/>
                      <a:tailEnd len="sm" w="sm" type="none"/>
                    </a:lnB>
                  </a:tcPr>
                </a:tc>
              </a:tr>
              <a:tr h="319000">
                <a:tc>
                  <a:txBody>
                    <a:bodyPr/>
                    <a:lstStyle/>
                    <a:p>
                      <a:pPr indent="0" lvl="0" marL="0" rtl="0" algn="l">
                        <a:spcBef>
                          <a:spcPts val="0"/>
                        </a:spcBef>
                        <a:spcAft>
                          <a:spcPts val="0"/>
                        </a:spcAft>
                        <a:buNone/>
                      </a:pPr>
                      <a:r>
                        <a:rPr lang="en-GB" sz="1000"/>
                        <a:t>Nonstationary Poisson (CDiff)</a:t>
                      </a:r>
                      <a:endParaRPr sz="1000"/>
                    </a:p>
                  </a:txBody>
                  <a:tcPr marT="91425" marB="91425" marR="91425" marL="91425">
                    <a:lnT cap="flat" cmpd="sng" w="38100">
                      <a:solidFill>
                        <a:srgbClr val="000000"/>
                      </a:solidFill>
                      <a:prstDash val="solid"/>
                      <a:round/>
                      <a:headEnd len="sm" w="sm" type="none"/>
                      <a:tailEnd len="sm" w="sm" type="none"/>
                    </a:lnT>
                  </a:tcPr>
                </a:tc>
                <a:tc>
                  <a:txBody>
                    <a:bodyPr/>
                    <a:lstStyle/>
                    <a:p>
                      <a:pPr indent="0" lvl="0" marL="0" rtl="0" algn="l">
                        <a:spcBef>
                          <a:spcPts val="0"/>
                        </a:spcBef>
                        <a:spcAft>
                          <a:spcPts val="0"/>
                        </a:spcAft>
                        <a:buNone/>
                      </a:pPr>
                      <a:r>
                        <a:rPr b="1" lang="en-GB" sz="1050">
                          <a:solidFill>
                            <a:srgbClr val="FF0000"/>
                          </a:solidFill>
                          <a:latin typeface="Courier New"/>
                          <a:ea typeface="Courier New"/>
                          <a:cs typeface="Courier New"/>
                          <a:sym typeface="Courier New"/>
                        </a:rPr>
                        <a:t>0.3305895617200154</a:t>
                      </a:r>
                      <a:endParaRPr b="1" sz="1000">
                        <a:solidFill>
                          <a:srgbClr val="FF0000"/>
                        </a:solidFill>
                        <a:latin typeface="Courier New"/>
                        <a:ea typeface="Courier New"/>
                        <a:cs typeface="Courier New"/>
                        <a:sym typeface="Courier New"/>
                      </a:endParaRPr>
                    </a:p>
                  </a:txBody>
                  <a:tcPr marT="91425" marB="91425" marR="91425" marL="91425">
                    <a:lnT cap="flat" cmpd="sng" w="38100">
                      <a:solidFill>
                        <a:srgbClr val="000000"/>
                      </a:solidFill>
                      <a:prstDash val="solid"/>
                      <a:round/>
                      <a:headEnd len="sm" w="sm" type="none"/>
                      <a:tailEnd len="sm" w="sm" type="none"/>
                    </a:lnT>
                  </a:tcPr>
                </a:tc>
                <a:tc>
                  <a:txBody>
                    <a:bodyPr/>
                    <a:lstStyle/>
                    <a:p>
                      <a:pPr indent="0" lvl="0" marL="0" rtl="0" algn="l">
                        <a:spcBef>
                          <a:spcPts val="0"/>
                        </a:spcBef>
                        <a:spcAft>
                          <a:spcPts val="0"/>
                        </a:spcAft>
                        <a:buNone/>
                      </a:pPr>
                      <a:r>
                        <a:rPr lang="en-GB" sz="1050">
                          <a:latin typeface="Courier New"/>
                          <a:ea typeface="Courier New"/>
                          <a:cs typeface="Courier New"/>
                          <a:sym typeface="Courier New"/>
                        </a:rPr>
                        <a:t>0.3260916445171925</a:t>
                      </a:r>
                      <a:endParaRPr sz="1000">
                        <a:latin typeface="Courier New"/>
                        <a:ea typeface="Courier New"/>
                        <a:cs typeface="Courier New"/>
                        <a:sym typeface="Courier New"/>
                      </a:endParaRPr>
                    </a:p>
                  </a:txBody>
                  <a:tcPr marT="91425" marB="91425" marR="91425" marL="91425">
                    <a:lnT cap="flat" cmpd="sng" w="38100">
                      <a:solidFill>
                        <a:srgbClr val="000000"/>
                      </a:solidFill>
                      <a:prstDash val="solid"/>
                      <a:round/>
                      <a:headEnd len="sm" w="sm" type="none"/>
                      <a:tailEnd len="sm" w="sm" type="none"/>
                    </a:lnT>
                  </a:tcPr>
                </a:tc>
              </a:tr>
              <a:tr h="100000">
                <a:tc>
                  <a:txBody>
                    <a:bodyPr/>
                    <a:lstStyle/>
                    <a:p>
                      <a:pPr indent="0" lvl="0" marL="0" rtl="0" algn="l">
                        <a:spcBef>
                          <a:spcPts val="0"/>
                        </a:spcBef>
                        <a:spcAft>
                          <a:spcPts val="0"/>
                        </a:spcAft>
                        <a:buNone/>
                      </a:pPr>
                      <a:r>
                        <a:rPr lang="en-GB" sz="1000"/>
                        <a:t>Nonstationary Poisson (IFL-TPP)</a:t>
                      </a:r>
                      <a:endParaRPr sz="1000"/>
                    </a:p>
                  </a:txBody>
                  <a:tcPr marT="91425" marB="91425" marR="91425" marL="91425">
                    <a:lnB cap="flat" cmpd="sng" w="381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GB" sz="1050">
                          <a:latin typeface="Courier New"/>
                          <a:ea typeface="Courier New"/>
                          <a:cs typeface="Courier New"/>
                          <a:sym typeface="Courier New"/>
                        </a:rPr>
                        <a:t>0.5767568278189524</a:t>
                      </a:r>
                      <a:endParaRPr sz="1000">
                        <a:latin typeface="Courier New"/>
                        <a:ea typeface="Courier New"/>
                        <a:cs typeface="Courier New"/>
                        <a:sym typeface="Courier New"/>
                      </a:endParaRPr>
                    </a:p>
                  </a:txBody>
                  <a:tcPr marT="91425" marB="91425" marR="91425" marL="91425">
                    <a:lnB cap="flat" cmpd="sng" w="381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b="1" lang="en-GB" sz="1050">
                          <a:solidFill>
                            <a:srgbClr val="FF0000"/>
                          </a:solidFill>
                          <a:latin typeface="Courier New"/>
                          <a:ea typeface="Courier New"/>
                          <a:cs typeface="Courier New"/>
                          <a:sym typeface="Courier New"/>
                        </a:rPr>
                        <a:t>0.010045555712244969</a:t>
                      </a:r>
                      <a:endParaRPr b="1" sz="1000">
                        <a:solidFill>
                          <a:srgbClr val="FF0000"/>
                        </a:solidFill>
                        <a:latin typeface="Courier New"/>
                        <a:ea typeface="Courier New"/>
                        <a:cs typeface="Courier New"/>
                        <a:sym typeface="Courier New"/>
                      </a:endParaRPr>
                    </a:p>
                  </a:txBody>
                  <a:tcPr marT="91425" marB="91425" marR="91425" marL="91425">
                    <a:lnB cap="flat" cmpd="sng" w="38100">
                      <a:solidFill>
                        <a:srgbClr val="000000"/>
                      </a:solidFill>
                      <a:prstDash val="solid"/>
                      <a:round/>
                      <a:headEnd len="sm" w="sm" type="none"/>
                      <a:tailEnd len="sm" w="sm" type="none"/>
                    </a:lnB>
                  </a:tcPr>
                </a:tc>
              </a:tr>
              <a:tr h="100000">
                <a:tc>
                  <a:txBody>
                    <a:bodyPr/>
                    <a:lstStyle/>
                    <a:p>
                      <a:pPr indent="0" lvl="0" marL="0" rtl="0" algn="l">
                        <a:spcBef>
                          <a:spcPts val="0"/>
                        </a:spcBef>
                        <a:spcAft>
                          <a:spcPts val="0"/>
                        </a:spcAft>
                        <a:buNone/>
                      </a:pPr>
                      <a:r>
                        <a:rPr lang="en-GB" sz="1000"/>
                        <a:t>Nonstationary Renewal (CDiff)</a:t>
                      </a:r>
                      <a:endParaRPr sz="1000"/>
                    </a:p>
                  </a:txBody>
                  <a:tcPr marT="91425" marB="91425" marR="91425" marL="91425">
                    <a:lnT cap="flat" cmpd="sng" w="38100">
                      <a:solidFill>
                        <a:srgbClr val="000000"/>
                      </a:solidFill>
                      <a:prstDash val="solid"/>
                      <a:round/>
                      <a:headEnd len="sm" w="sm" type="none"/>
                      <a:tailEnd len="sm" w="sm" type="none"/>
                    </a:lnT>
                  </a:tcPr>
                </a:tc>
                <a:tc>
                  <a:txBody>
                    <a:bodyPr/>
                    <a:lstStyle/>
                    <a:p>
                      <a:pPr indent="0" lvl="0" marL="0" rtl="0" algn="l">
                        <a:spcBef>
                          <a:spcPts val="0"/>
                        </a:spcBef>
                        <a:spcAft>
                          <a:spcPts val="0"/>
                        </a:spcAft>
                        <a:buNone/>
                      </a:pPr>
                      <a:r>
                        <a:rPr b="1" lang="en-GB" sz="1050">
                          <a:solidFill>
                            <a:srgbClr val="FF0000"/>
                          </a:solidFill>
                          <a:latin typeface="Courier New"/>
                          <a:ea typeface="Courier New"/>
                          <a:cs typeface="Courier New"/>
                          <a:sym typeface="Courier New"/>
                        </a:rPr>
                        <a:t>0.4608190759018756</a:t>
                      </a:r>
                      <a:endParaRPr b="1" sz="1000">
                        <a:solidFill>
                          <a:srgbClr val="FF0000"/>
                        </a:solidFill>
                        <a:latin typeface="Courier New"/>
                        <a:ea typeface="Courier New"/>
                        <a:cs typeface="Courier New"/>
                        <a:sym typeface="Courier New"/>
                      </a:endParaRPr>
                    </a:p>
                  </a:txBody>
                  <a:tcPr marT="91425" marB="91425" marR="91425" marL="91425">
                    <a:lnT cap="flat" cmpd="sng" w="38100">
                      <a:solidFill>
                        <a:srgbClr val="000000"/>
                      </a:solidFill>
                      <a:prstDash val="solid"/>
                      <a:round/>
                      <a:headEnd len="sm" w="sm" type="none"/>
                      <a:tailEnd len="sm" w="sm" type="none"/>
                    </a:lnT>
                  </a:tcPr>
                </a:tc>
                <a:tc>
                  <a:txBody>
                    <a:bodyPr/>
                    <a:lstStyle/>
                    <a:p>
                      <a:pPr indent="0" lvl="0" marL="0" rtl="0" algn="l">
                        <a:spcBef>
                          <a:spcPts val="0"/>
                        </a:spcBef>
                        <a:spcAft>
                          <a:spcPts val="0"/>
                        </a:spcAft>
                        <a:buNone/>
                      </a:pPr>
                      <a:r>
                        <a:rPr lang="en-GB" sz="1050">
                          <a:latin typeface="Courier New"/>
                          <a:ea typeface="Courier New"/>
                          <a:cs typeface="Courier New"/>
                          <a:sym typeface="Courier New"/>
                        </a:rPr>
                        <a:t>0.3226900271169424</a:t>
                      </a:r>
                      <a:endParaRPr sz="1000">
                        <a:latin typeface="Courier New"/>
                        <a:ea typeface="Courier New"/>
                        <a:cs typeface="Courier New"/>
                        <a:sym typeface="Courier New"/>
                      </a:endParaRPr>
                    </a:p>
                  </a:txBody>
                  <a:tcPr marT="91425" marB="91425" marR="91425" marL="91425">
                    <a:lnT cap="flat" cmpd="sng" w="38100">
                      <a:solidFill>
                        <a:srgbClr val="000000"/>
                      </a:solidFill>
                      <a:prstDash val="solid"/>
                      <a:round/>
                      <a:headEnd len="sm" w="sm" type="none"/>
                      <a:tailEnd len="sm" w="sm" type="none"/>
                    </a:lnT>
                  </a:tcPr>
                </a:tc>
              </a:tr>
              <a:tr h="100000">
                <a:tc>
                  <a:txBody>
                    <a:bodyPr/>
                    <a:lstStyle/>
                    <a:p>
                      <a:pPr indent="0" lvl="0" marL="0" rtl="0" algn="l">
                        <a:spcBef>
                          <a:spcPts val="0"/>
                        </a:spcBef>
                        <a:spcAft>
                          <a:spcPts val="0"/>
                        </a:spcAft>
                        <a:buNone/>
                      </a:pPr>
                      <a:r>
                        <a:rPr lang="en-GB" sz="1000"/>
                        <a:t>Nonstationary Renewal (IFL-TPP)</a:t>
                      </a:r>
                      <a:endParaRPr sz="1000"/>
                    </a:p>
                  </a:txBody>
                  <a:tcPr marT="91425" marB="91425" marR="91425" marL="91425"/>
                </a:tc>
                <a:tc>
                  <a:txBody>
                    <a:bodyPr/>
                    <a:lstStyle/>
                    <a:p>
                      <a:pPr indent="0" lvl="0" marL="0" rtl="0" algn="l">
                        <a:spcBef>
                          <a:spcPts val="0"/>
                        </a:spcBef>
                        <a:spcAft>
                          <a:spcPts val="0"/>
                        </a:spcAft>
                        <a:buNone/>
                      </a:pPr>
                      <a:r>
                        <a:rPr lang="en-GB" sz="1050">
                          <a:latin typeface="Courier New"/>
                          <a:ea typeface="Courier New"/>
                          <a:cs typeface="Courier New"/>
                          <a:sym typeface="Courier New"/>
                        </a:rPr>
                        <a:t>1.1299553164381997</a:t>
                      </a:r>
                      <a:endParaRPr sz="1000">
                        <a:latin typeface="Courier New"/>
                        <a:ea typeface="Courier New"/>
                        <a:cs typeface="Courier New"/>
                        <a:sym typeface="Courier New"/>
                      </a:endParaRPr>
                    </a:p>
                  </a:txBody>
                  <a:tcPr marT="91425" marB="91425" marR="91425" marL="91425"/>
                </a:tc>
                <a:tc>
                  <a:txBody>
                    <a:bodyPr/>
                    <a:lstStyle/>
                    <a:p>
                      <a:pPr indent="0" lvl="0" marL="0" rtl="0" algn="l">
                        <a:spcBef>
                          <a:spcPts val="0"/>
                        </a:spcBef>
                        <a:spcAft>
                          <a:spcPts val="0"/>
                        </a:spcAft>
                        <a:buNone/>
                      </a:pPr>
                      <a:r>
                        <a:rPr b="1" lang="en-GB" sz="1050">
                          <a:solidFill>
                            <a:srgbClr val="FF0000"/>
                          </a:solidFill>
                          <a:latin typeface="Courier New"/>
                          <a:ea typeface="Courier New"/>
                          <a:cs typeface="Courier New"/>
                          <a:sym typeface="Courier New"/>
                        </a:rPr>
                        <a:t>0.12273452123779527</a:t>
                      </a:r>
                      <a:endParaRPr b="1" sz="1000">
                        <a:solidFill>
                          <a:srgbClr val="FF0000"/>
                        </a:solidFill>
                        <a:latin typeface="Courier New"/>
                        <a:ea typeface="Courier New"/>
                        <a:cs typeface="Courier New"/>
                        <a:sym typeface="Courier New"/>
                      </a:endParaRPr>
                    </a:p>
                  </a:txBody>
                  <a:tcPr marT="91425" marB="91425" marR="91425" marL="91425"/>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37"/>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Conclusion and Future Work</a:t>
            </a:r>
            <a:endParaRPr/>
          </a:p>
        </p:txBody>
      </p:sp>
      <p:sp>
        <p:nvSpPr>
          <p:cNvPr id="293" name="Google Shape;293;p37"/>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100">
                <a:solidFill>
                  <a:srgbClr val="000000"/>
                </a:solidFill>
              </a:rPr>
              <a:t>Summary:</a:t>
            </a:r>
            <a:endParaRPr sz="1100">
              <a:solidFill>
                <a:srgbClr val="000000"/>
              </a:solidFill>
            </a:endParaRPr>
          </a:p>
          <a:p>
            <a:pPr indent="-298450" lvl="0" marL="457200" rtl="0" algn="l">
              <a:spcBef>
                <a:spcPts val="1200"/>
              </a:spcBef>
              <a:spcAft>
                <a:spcPts val="0"/>
              </a:spcAft>
              <a:buClr>
                <a:srgbClr val="000000"/>
              </a:buClr>
              <a:buSzPts val="1100"/>
              <a:buFont typeface="Calibri"/>
              <a:buChar char="●"/>
            </a:pPr>
            <a:r>
              <a:rPr lang="en-GB" sz="1100">
                <a:solidFill>
                  <a:srgbClr val="000000"/>
                </a:solidFill>
              </a:rPr>
              <a:t>Demonstrated that cdiff remains functional and does not collapse without self-history context from real data</a:t>
            </a:r>
            <a:br>
              <a:rPr lang="en-GB" sz="1100">
                <a:solidFill>
                  <a:srgbClr val="000000"/>
                </a:solidFill>
              </a:rPr>
            </a:br>
            <a:endParaRPr sz="1100">
              <a:solidFill>
                <a:srgbClr val="000000"/>
              </a:solidFill>
            </a:endParaRPr>
          </a:p>
          <a:p>
            <a:pPr indent="0" lvl="0" marL="0" rtl="0" algn="l">
              <a:spcBef>
                <a:spcPts val="1200"/>
              </a:spcBef>
              <a:spcAft>
                <a:spcPts val="0"/>
              </a:spcAft>
              <a:buNone/>
            </a:pPr>
            <a:r>
              <a:rPr lang="en-GB" sz="1100">
                <a:solidFill>
                  <a:srgbClr val="000000"/>
                </a:solidFill>
              </a:rPr>
              <a:t>Future Directions:</a:t>
            </a:r>
            <a:endParaRPr sz="1100">
              <a:solidFill>
                <a:srgbClr val="000000"/>
              </a:solidFill>
            </a:endParaRPr>
          </a:p>
          <a:p>
            <a:pPr indent="-298450" lvl="0" marL="457200" rtl="0" algn="l">
              <a:spcBef>
                <a:spcPts val="1200"/>
              </a:spcBef>
              <a:spcAft>
                <a:spcPts val="0"/>
              </a:spcAft>
              <a:buClr>
                <a:srgbClr val="000000"/>
              </a:buClr>
              <a:buSzPts val="1100"/>
              <a:buFont typeface="Calibri"/>
              <a:buChar char="●"/>
            </a:pPr>
            <a:r>
              <a:rPr lang="en-GB" sz="1100">
                <a:solidFill>
                  <a:srgbClr val="000000"/>
                </a:solidFill>
              </a:rPr>
              <a:t>Use filtering techniques to reduce loss at each 20 event generation stage.</a:t>
            </a:r>
            <a:br>
              <a:rPr lang="en-GB" sz="1100">
                <a:solidFill>
                  <a:srgbClr val="000000"/>
                </a:solidFill>
              </a:rPr>
            </a:b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2CC"/>
        </a:solidFill>
      </p:bgPr>
    </p:bg>
    <p:spTree>
      <p:nvGrpSpPr>
        <p:cNvPr id="297" name="Shape 297"/>
        <p:cNvGrpSpPr/>
        <p:nvPr/>
      </p:nvGrpSpPr>
      <p:grpSpPr>
        <a:xfrm>
          <a:off x="0" y="0"/>
          <a:ext cx="0" cy="0"/>
          <a:chOff x="0" y="0"/>
          <a:chExt cx="0" cy="0"/>
        </a:xfrm>
      </p:grpSpPr>
      <p:sp>
        <p:nvSpPr>
          <p:cNvPr id="298" name="Google Shape;298;p38"/>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GB" sz="4500">
                <a:solidFill>
                  <a:schemeClr val="accent6"/>
                </a:solidFill>
              </a:rPr>
              <a:t>Thank You!</a:t>
            </a:r>
            <a:endParaRPr b="1" sz="4500">
              <a:solidFill>
                <a:schemeClr val="accent6"/>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